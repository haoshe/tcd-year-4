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316" r:id="rId3"/>
    <p:sldId id="339" r:id="rId4"/>
    <p:sldId id="370" r:id="rId5"/>
    <p:sldId id="301" r:id="rId6"/>
    <p:sldId id="309" r:id="rId7"/>
    <p:sldId id="330" r:id="rId8"/>
    <p:sldId id="372" r:id="rId9"/>
    <p:sldId id="353" r:id="rId10"/>
    <p:sldId id="357" r:id="rId11"/>
    <p:sldId id="332" r:id="rId12"/>
    <p:sldId id="356" r:id="rId13"/>
    <p:sldId id="359" r:id="rId14"/>
    <p:sldId id="361" r:id="rId15"/>
    <p:sldId id="362" r:id="rId16"/>
    <p:sldId id="367" r:id="rId17"/>
    <p:sldId id="331" r:id="rId18"/>
    <p:sldId id="263" r:id="rId19"/>
    <p:sldId id="371" r:id="rId20"/>
    <p:sldId id="369" r:id="rId21"/>
    <p:sldId id="295" r:id="rId22"/>
    <p:sldId id="333" r:id="rId23"/>
    <p:sldId id="334" r:id="rId24"/>
    <p:sldId id="363" r:id="rId25"/>
    <p:sldId id="335" r:id="rId26"/>
    <p:sldId id="296" r:id="rId27"/>
    <p:sldId id="300" r:id="rId28"/>
    <p:sldId id="297" r:id="rId29"/>
    <p:sldId id="366" r:id="rId30"/>
    <p:sldId id="337" r:id="rId31"/>
    <p:sldId id="280" r:id="rId32"/>
    <p:sldId id="257" r:id="rId33"/>
    <p:sldId id="338" r:id="rId34"/>
    <p:sldId id="340" r:id="rId35"/>
    <p:sldId id="341" r:id="rId36"/>
    <p:sldId id="342" r:id="rId37"/>
    <p:sldId id="260" r:id="rId38"/>
  </p:sldIdLst>
  <p:sldSz cx="9144000" cy="5143500" type="screen16x9"/>
  <p:notesSz cx="6858000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52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1BC"/>
    <a:srgbClr val="0E73B9"/>
    <a:srgbClr val="005EAE"/>
    <a:srgbClr val="3E6D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63"/>
    <p:restoredTop sz="94627" autoAdjust="0"/>
  </p:normalViewPr>
  <p:slideViewPr>
    <p:cSldViewPr snapToGrid="0" showGuides="1">
      <p:cViewPr varScale="1">
        <p:scale>
          <a:sx n="149" d="100"/>
          <a:sy n="149" d="100"/>
        </p:scale>
        <p:origin x="800" y="168"/>
      </p:cViewPr>
      <p:guideLst>
        <p:guide orient="horz" pos="3239"/>
        <p:guide pos="524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1" d="100"/>
          <a:sy n="91" d="100"/>
        </p:scale>
        <p:origin x="-3720" y="-108"/>
      </p:cViewPr>
      <p:guideLst>
        <p:guide orient="horz" pos="313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F9CF6-3C59-0044-A98E-5621531DB8C4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880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880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2B203-0CFB-0947-A4BA-DD5C56FB72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646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971" y="4724956"/>
            <a:ext cx="4908331" cy="447627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22876" y="9449911"/>
            <a:ext cx="835124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  <a:cs typeface="Arial" panose="020B0604020202020204" pitchFamily="34" charset="0"/>
              </a:defRPr>
            </a:lvl1pPr>
          </a:lstStyle>
          <a:p>
            <a:fld id="{49DD4D23-C98A-435E-AE88-9061F8349B0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00334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5A20CBBE-D224-F343-9324-07B87FECA2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A12E7CC-4DAD-104F-8098-2774CA100B44}" type="slidenum">
              <a:rPr lang="en-GB" altLang="en-US" sz="1400">
                <a:latin typeface="Arial" panose="020B0604020202020204" pitchFamily="34" charset="0"/>
              </a:rPr>
              <a:pPr/>
              <a:t>18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D045EED2-14C6-5B4F-9B28-85346A357E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B16C83B-BC22-D840-B6EB-27197D736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683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6DC0E11C-48E1-A949-8407-A18261F712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61483BC-FD24-FA42-B741-C7874629E94E}" type="slidenum">
              <a:rPr lang="en-GB" altLang="en-US" sz="1400">
                <a:latin typeface="Arial" panose="020B0604020202020204" pitchFamily="34" charset="0"/>
              </a:rPr>
              <a:pPr/>
              <a:t>19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9B1828B4-1F08-504E-BB1E-FB2AF6561A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AF2629BC-1DB0-354E-B78F-55687B5E20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79525" y="3475038"/>
            <a:ext cx="7042150" cy="32908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68993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5D50C2E4-8EEA-E444-BC4D-43D2A3E042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C8B0545-5AFA-E04D-9575-722A29BEBCF6}" type="slidenum">
              <a:rPr lang="en-GB" altLang="en-US" sz="1400">
                <a:latin typeface="Arial" panose="020B0604020202020204" pitchFamily="34" charset="0"/>
              </a:rPr>
              <a:pPr/>
              <a:t>31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090BF0E3-00C5-C74F-86D5-37B64A5F9F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BED7F49-DCFB-6346-BA18-4ABFA5EAC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2562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A1494417-D7DF-3D4F-B5E9-47CFB3D6E1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1006475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10064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CDEAB78-2D11-2B43-BB08-3FA32A640AC2}" type="slidenum">
              <a:rPr lang="en-GB" altLang="en-US" sz="1400">
                <a:latin typeface="Arial" panose="020B0604020202020204" pitchFamily="34" charset="0"/>
              </a:rPr>
              <a:pPr/>
              <a:t>32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D9FCECEC-2E70-F147-909B-6869702093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1ABFAD23-9A4F-CD43-8DAC-4E0421D4F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7921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9144000" cy="2193079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679" y="2781702"/>
            <a:ext cx="7500939" cy="416138"/>
          </a:xfrm>
        </p:spPr>
        <p:txBody>
          <a:bodyPr/>
          <a:lstStyle>
            <a:lvl1pPr algn="l">
              <a:defRPr>
                <a:solidFill>
                  <a:srgbClr val="0071BC"/>
                </a:solidFill>
              </a:defRPr>
            </a:lvl1pPr>
          </a:lstStyle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675" y="3212350"/>
            <a:ext cx="7500938" cy="271350"/>
          </a:xfrm>
        </p:spPr>
        <p:txBody>
          <a:bodyPr/>
          <a:lstStyle>
            <a:lvl1pPr marL="0" indent="0" algn="l">
              <a:buNone/>
              <a:defRPr sz="1400" b="0">
                <a:solidFill>
                  <a:srgbClr val="0071BC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ga-IE" dirty="0"/>
              <a:t>Click to edit Master subtitle style</a:t>
            </a:r>
            <a:endParaRPr lang="en-GB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828680" y="3956596"/>
            <a:ext cx="4679325" cy="734531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rgbClr val="0071BC"/>
                </a:solidFill>
              </a:defRPr>
            </a:lvl1pPr>
            <a:lvl2pPr marL="0" indent="0">
              <a:spcBef>
                <a:spcPts val="0"/>
              </a:spcBef>
              <a:buNone/>
              <a:defRPr sz="1400">
                <a:solidFill>
                  <a:srgbClr val="0071BC"/>
                </a:solidFill>
              </a:defRPr>
            </a:lvl2pPr>
            <a:lvl3pPr marL="0" indent="0">
              <a:spcBef>
                <a:spcPts val="567"/>
              </a:spcBef>
              <a:buNone/>
              <a:defRPr sz="1400">
                <a:solidFill>
                  <a:srgbClr val="0071BC"/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ga-IE" dirty="0"/>
              <a:t>Click to edit Master text styles</a:t>
            </a:r>
          </a:p>
          <a:p>
            <a:pPr lvl="1"/>
            <a:r>
              <a:rPr lang="ga-IE" dirty="0"/>
              <a:t>Second level</a:t>
            </a:r>
          </a:p>
          <a:p>
            <a:pPr lvl="2"/>
            <a:r>
              <a:rPr lang="ga-IE" dirty="0"/>
              <a:t>Third level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4819500"/>
            <a:ext cx="9144000" cy="32400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 dirty="0"/>
          </a:p>
        </p:txBody>
      </p:sp>
      <p:pic>
        <p:nvPicPr>
          <p:cNvPr id="10" name="Picture 9" descr="TCD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10" y="473558"/>
            <a:ext cx="4076301" cy="109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79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75" y="1410806"/>
            <a:ext cx="7500938" cy="3030141"/>
          </a:xfrm>
        </p:spPr>
        <p:txBody>
          <a:bodyPr/>
          <a:lstStyle/>
          <a:p>
            <a:pPr lvl="0"/>
            <a:r>
              <a:rPr lang="ga-IE" dirty="0"/>
              <a:t>Click to edit Master text styles</a:t>
            </a:r>
          </a:p>
          <a:p>
            <a:pPr lvl="1"/>
            <a:r>
              <a:rPr lang="ga-IE" dirty="0"/>
              <a:t>Second level</a:t>
            </a:r>
          </a:p>
          <a:p>
            <a:pPr lvl="2"/>
            <a:r>
              <a:rPr lang="ga-IE" dirty="0"/>
              <a:t>Third level</a:t>
            </a:r>
          </a:p>
          <a:p>
            <a:pPr lvl="3"/>
            <a:r>
              <a:rPr lang="ga-IE" dirty="0"/>
              <a:t>Fourth level</a:t>
            </a:r>
          </a:p>
          <a:p>
            <a:pPr lvl="4"/>
            <a:r>
              <a:rPr lang="ga-IE" dirty="0"/>
              <a:t>Fifth level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2"/>
            <a:ext cx="7500938" cy="207169"/>
          </a:xfrm>
        </p:spPr>
        <p:txBody>
          <a:bodyPr/>
          <a:lstStyle>
            <a:lvl1pPr>
              <a:defRPr sz="1400" b="0">
                <a:solidFill>
                  <a:srgbClr val="0071BC"/>
                </a:solidFill>
              </a:defRPr>
            </a:lvl1pPr>
          </a:lstStyle>
          <a:p>
            <a:pPr lvl="0"/>
            <a:r>
              <a:rPr lang="ga-IE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300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1BC"/>
                </a:solidFill>
              </a:defRPr>
            </a:lvl1pPr>
          </a:lstStyle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80" y="1428750"/>
            <a:ext cx="3819525" cy="2990766"/>
          </a:xfrm>
        </p:spPr>
        <p:txBody>
          <a:bodyPr/>
          <a:lstStyle>
            <a:lvl1pPr marL="238125" indent="-238125">
              <a:spcBef>
                <a:spcPts val="85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sz="1400" b="0"/>
            </a:lvl1pPr>
            <a:lvl2pPr marL="503238" indent="-207963">
              <a:spcBef>
                <a:spcPts val="0"/>
              </a:spcBef>
              <a:spcAft>
                <a:spcPts val="567"/>
              </a:spcAft>
              <a:defRPr sz="1400" b="0"/>
            </a:lvl2pPr>
            <a:lvl3pPr>
              <a:defRPr sz="1400" b="0"/>
            </a:lvl3pPr>
            <a:lvl4pPr>
              <a:defRPr sz="1400" b="0"/>
            </a:lvl4pPr>
            <a:lvl5pPr>
              <a:defRPr sz="1400" b="0"/>
            </a:lvl5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2"/>
            <a:ext cx="7500938" cy="207169"/>
          </a:xfrm>
        </p:spPr>
        <p:txBody>
          <a:bodyPr/>
          <a:lstStyle>
            <a:lvl1pPr>
              <a:defRPr sz="1400" b="0">
                <a:solidFill>
                  <a:srgbClr val="0071BC"/>
                </a:solidFill>
              </a:defRPr>
            </a:lvl1pPr>
          </a:lstStyle>
          <a:p>
            <a:pPr lvl="0"/>
            <a:r>
              <a:rPr lang="ga-IE" dirty="0"/>
              <a:t>Click to edit Master text styles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4819500"/>
            <a:ext cx="9144000" cy="32400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 anchorCtr="0"/>
          <a:lstStyle/>
          <a:p>
            <a:pPr marL="727075" indent="0" algn="l"/>
            <a:r>
              <a:rPr lang="en-GB" sz="1000" b="1" dirty="0"/>
              <a:t>Trinity College Dublin, </a:t>
            </a:r>
            <a:r>
              <a:rPr lang="en-GB" sz="1000" dirty="0"/>
              <a:t>The University of Dublin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954041" y="4903833"/>
            <a:ext cx="3755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0B15D8-8C78-934C-9F81-483F5C37CC80}" type="slidenum">
              <a:rPr lang="en-US" sz="1000" smtClean="0">
                <a:solidFill>
                  <a:schemeClr val="bg1"/>
                </a:solidFill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803F7601-7215-6143-A78F-FF5D4A5B1FE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939200" y="1078712"/>
            <a:ext cx="4204800" cy="3739342"/>
          </a:xfrm>
          <a:solidFill>
            <a:schemeClr val="accent4"/>
          </a:solidFill>
        </p:spPr>
        <p:txBody>
          <a:bodyPr tIns="0" anchor="ctr" anchorCtr="0"/>
          <a:lstStyle>
            <a:lvl1pPr algn="ctr">
              <a:defRPr sz="1600" b="0">
                <a:solidFill>
                  <a:schemeClr val="accent3"/>
                </a:solidFill>
              </a:defRPr>
            </a:lvl1pPr>
          </a:lstStyle>
          <a:p>
            <a:r>
              <a:rPr lang="en-GB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1282368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1BC"/>
                </a:solidFill>
              </a:defRPr>
            </a:lvl1pPr>
          </a:lstStyle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2"/>
            <a:ext cx="7500938" cy="207169"/>
          </a:xfrm>
        </p:spPr>
        <p:txBody>
          <a:bodyPr/>
          <a:lstStyle>
            <a:lvl1pPr>
              <a:defRPr sz="1400" b="0">
                <a:solidFill>
                  <a:srgbClr val="0071BC"/>
                </a:solidFill>
              </a:defRPr>
            </a:lvl1pPr>
          </a:lstStyle>
          <a:p>
            <a:pPr lvl="0"/>
            <a:r>
              <a:rPr lang="ga-IE" dirty="0"/>
              <a:t>Click to edit Master text styles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4819500"/>
            <a:ext cx="9144000" cy="32400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 anchorCtr="0"/>
          <a:lstStyle/>
          <a:p>
            <a:pPr marL="727075" indent="0" algn="l"/>
            <a:r>
              <a:rPr lang="en-GB" sz="1000" b="1" dirty="0"/>
              <a:t>Trinity College Dublin, </a:t>
            </a:r>
            <a:r>
              <a:rPr lang="en-GB" sz="1000" dirty="0"/>
              <a:t>The University of Dublin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954041" y="4903833"/>
            <a:ext cx="3755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0B15D8-8C78-934C-9F81-483F5C37CC80}" type="slidenum">
              <a:rPr lang="en-US" sz="1000" smtClean="0">
                <a:solidFill>
                  <a:schemeClr val="bg1"/>
                </a:solidFill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8133FA6-B904-6D43-AB09-6D2C0274556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078712"/>
            <a:ext cx="9144000" cy="3739342"/>
          </a:xfrm>
          <a:solidFill>
            <a:schemeClr val="accent4"/>
          </a:solidFill>
        </p:spPr>
        <p:txBody>
          <a:bodyPr tIns="0" anchor="ctr" anchorCtr="0"/>
          <a:lstStyle>
            <a:lvl1pPr algn="ctr">
              <a:defRPr sz="1600" b="0">
                <a:solidFill>
                  <a:schemeClr val="accent3"/>
                </a:solidFill>
              </a:defRPr>
            </a:lvl1pPr>
          </a:lstStyle>
          <a:p>
            <a:r>
              <a:rPr lang="en-GB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13861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819500"/>
            <a:ext cx="9144000" cy="32400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8679" y="2786400"/>
            <a:ext cx="7500939" cy="416138"/>
          </a:xfrm>
        </p:spPr>
        <p:txBody>
          <a:bodyPr/>
          <a:lstStyle>
            <a:lvl1pPr algn="l">
              <a:defRPr sz="4200">
                <a:solidFill>
                  <a:srgbClr val="0071BC"/>
                </a:solidFill>
              </a:defRPr>
            </a:lvl1pPr>
          </a:lstStyle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2193079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Picture 9" descr="TCD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10" y="473558"/>
            <a:ext cx="4076301" cy="109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89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1BC"/>
                </a:solidFill>
              </a:defRPr>
            </a:lvl1pPr>
          </a:lstStyle>
          <a:p>
            <a:r>
              <a:rPr lang="ga-IE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774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&amp; 2 Column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1BC"/>
                </a:solidFill>
              </a:defRPr>
            </a:lvl1pPr>
          </a:lstStyle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28676" y="1410809"/>
            <a:ext cx="7527924" cy="2732569"/>
          </a:xfrm>
        </p:spPr>
        <p:txBody>
          <a:bodyPr/>
          <a:lstStyle>
            <a:lvl1pPr marL="0" indent="0" rtl="0">
              <a:spcBef>
                <a:spcPts val="900"/>
              </a:spcBef>
              <a:buClr>
                <a:schemeClr val="tx2"/>
              </a:buClr>
              <a:buSzPts val="2000"/>
              <a:buFont typeface="Arial"/>
              <a:buNone/>
              <a:defRPr sz="2000" b="1"/>
            </a:lvl1pPr>
            <a:lvl2pPr marL="625475" indent="-233363" rtl="0">
              <a:buSzPts val="2000"/>
              <a:buFont typeface="Minion Pro"/>
              <a:buChar char="‒"/>
              <a:defRPr sz="2000"/>
            </a:lvl2pPr>
            <a:lvl3pPr marL="912813" indent="-222250" rtl="0">
              <a:buSzPts val="2000"/>
              <a:buFont typeface="Arial"/>
              <a:buChar char="»"/>
              <a:defRPr sz="2000"/>
            </a:lvl3pPr>
            <a:lvl4pPr marL="1128713" indent="-190500">
              <a:defRPr sz="2000"/>
            </a:lvl4pPr>
            <a:lvl5pPr marL="1439863" indent="-185738">
              <a:defRPr sz="2000"/>
            </a:lvl5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28675" y="685802"/>
            <a:ext cx="7500938" cy="207169"/>
          </a:xfrm>
        </p:spPr>
        <p:txBody>
          <a:bodyPr/>
          <a:lstStyle>
            <a:lvl1pPr>
              <a:defRPr sz="1400" b="0">
                <a:solidFill>
                  <a:srgbClr val="0071BC"/>
                </a:solidFill>
              </a:defRPr>
            </a:lvl1pPr>
          </a:lstStyle>
          <a:p>
            <a:pPr lvl="0"/>
            <a:r>
              <a:rPr lang="ga-IE" dirty="0"/>
              <a:t>Click to edit Master text styles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4495500"/>
            <a:ext cx="9144000" cy="64800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727075" indent="0" algn="l"/>
            <a:endParaRPr lang="en-GB" sz="1000"/>
          </a:p>
        </p:txBody>
      </p:sp>
      <p:pic>
        <p:nvPicPr>
          <p:cNvPr id="13" name="Picture 12" descr="TCD_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78" y="4613536"/>
            <a:ext cx="1585894" cy="427482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7954041" y="4903833"/>
            <a:ext cx="3755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0B15D8-8C78-934C-9F81-483F5C37CC80}" type="slidenum">
              <a:rPr lang="en-US" sz="1000" smtClean="0">
                <a:solidFill>
                  <a:schemeClr val="bg1"/>
                </a:solidFill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768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AE2754B-C39E-2743-9CC3-EECF726C33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/>
              <a:t>17 November 2017</a:t>
            </a: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694C352-F432-0F4A-9812-08B169AFF1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Academic Writing Part II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5D42A61-31BE-0541-BA04-8209A68CE4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97F117-14CF-C242-820A-98D3B96554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9727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8679" y="270000"/>
            <a:ext cx="7500939" cy="4212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ga-IE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8675" y="1403663"/>
            <a:ext cx="7500938" cy="3072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ga-IE" dirty="0"/>
              <a:t>Click to edit Master text styles</a:t>
            </a:r>
          </a:p>
          <a:p>
            <a:pPr lvl="1"/>
            <a:r>
              <a:rPr lang="ga-IE" dirty="0"/>
              <a:t>Second level</a:t>
            </a:r>
          </a:p>
          <a:p>
            <a:pPr lvl="2"/>
            <a:r>
              <a:rPr lang="ga-IE" dirty="0"/>
              <a:t>Third level</a:t>
            </a:r>
          </a:p>
          <a:p>
            <a:pPr lvl="3"/>
            <a:r>
              <a:rPr lang="ga-IE" dirty="0"/>
              <a:t>Fourth level</a:t>
            </a:r>
          </a:p>
          <a:p>
            <a:pPr lvl="4"/>
            <a:r>
              <a:rPr lang="ga-IE" dirty="0"/>
              <a:t>Fifth level</a:t>
            </a:r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4819500"/>
            <a:ext cx="9144000" cy="324000"/>
          </a:xfrm>
          <a:prstGeom prst="rect">
            <a:avLst/>
          </a:prstGeom>
          <a:solidFill>
            <a:srgbClr val="0E73B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 anchorCtr="0"/>
          <a:lstStyle/>
          <a:p>
            <a:pPr marL="727075" indent="0" algn="l"/>
            <a:r>
              <a:rPr lang="en-GB" sz="1000" b="1" dirty="0"/>
              <a:t>Trinity College Dublin, </a:t>
            </a:r>
            <a:r>
              <a:rPr lang="en-GB" sz="1000" dirty="0"/>
              <a:t>The University of Dublin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7954041" y="4903833"/>
            <a:ext cx="3755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0B15D8-8C78-934C-9F81-483F5C37CC80}" type="slidenum">
              <a:rPr lang="en-US" sz="1000" smtClean="0">
                <a:solidFill>
                  <a:schemeClr val="bg1"/>
                </a:solidFill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06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9" r:id="rId5"/>
    <p:sldLayoutId id="2147483654" r:id="rId6"/>
    <p:sldLayoutId id="2147483661" r:id="rId7"/>
    <p:sldLayoutId id="2147483662" r:id="rId8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rgbClr val="0E73B9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417"/>
        </a:spcBef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17500" indent="-317500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68325" indent="-222250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84225" indent="-201613" algn="l" defTabSz="914400" rtl="0" eaLnBrk="1" latinLnBrk="0" hangingPunct="1">
        <a:spcBef>
          <a:spcPts val="1134"/>
        </a:spcBef>
        <a:buClr>
          <a:schemeClr val="tx2"/>
        </a:buClr>
        <a:buFont typeface="Minion Pro" pitchFamily="18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0125" indent="-185738" algn="l" defTabSz="914400" rtl="0" eaLnBrk="1" latinLnBrk="0" hangingPunct="1">
        <a:spcBef>
          <a:spcPts val="1134"/>
        </a:spcBef>
        <a:buClr>
          <a:schemeClr val="tx2"/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uefap.com/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ritefullapp.com/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uefap.com/writing/writfram.htm" TargetMode="Externa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efap.com/" TargetMode="External"/><Relationship Id="rId2" Type="http://schemas.openxmlformats.org/officeDocument/2006/relationships/hyperlink" Target="http://www.utoronto.ca/writing/commasplice.html" TargetMode="Externa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su.edu/~brians/errors/errors.html" TargetMode="Externa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uccessfulacademic.com/success_tips/dissertationwriting.htm" TargetMode="Externa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rath.ac.uk/Departments/CAP/dissertation" TargetMode="External"/><Relationship Id="rId2" Type="http://schemas.openxmlformats.org/officeDocument/2006/relationships/hyperlink" Target="http://isservices.tcd.ie/training/wordld.php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www.uefap.com/" TargetMode="External"/><Relationship Id="rId5" Type="http://schemas.openxmlformats.org/officeDocument/2006/relationships/hyperlink" Target="http://www.utoronto.ca/writing/commasplice.html" TargetMode="External"/><Relationship Id="rId4" Type="http://schemas.openxmlformats.org/officeDocument/2006/relationships/hyperlink" Target="http://www.wsu.edu/~brians/errors/errors.html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FYP - The Writing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Lucy </a:t>
            </a:r>
            <a:r>
              <a:rPr lang="en-GB" dirty="0" err="1"/>
              <a:t>Hederman</a:t>
            </a:r>
            <a:endParaRPr lang="en-GB" dirty="0"/>
          </a:p>
          <a:p>
            <a:r>
              <a:rPr lang="en-GB" dirty="0"/>
              <a:t>FYP Methods module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7F6FC00-F5D7-AD49-860A-80FD05DFA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9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>
            <a:extLst>
              <a:ext uri="{FF2B5EF4-FFF2-40B4-BE49-F238E27FC236}">
                <a16:creationId xmlns:a16="http://schemas.microsoft.com/office/drawing/2014/main" id="{420B2860-7F4A-A740-B14F-4FF99577EE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Outline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7414" name="Rectangle 3">
            <a:extLst>
              <a:ext uri="{FF2B5EF4-FFF2-40B4-BE49-F238E27FC236}">
                <a16:creationId xmlns:a16="http://schemas.microsoft.com/office/drawing/2014/main" id="{C140CD26-B6E4-514C-B057-C0AF1E2AF9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charset="2"/>
              <a:buAutoNum type="romanUcPeriod"/>
              <a:defRPr/>
            </a:pP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Preparing the ground</a:t>
            </a:r>
          </a:p>
          <a:p>
            <a:pPr marL="609600" indent="-609600">
              <a:buFont typeface="Wingdings" charset="2"/>
              <a:buAutoNum type="romanUcPeriod"/>
              <a:defRPr/>
            </a:pP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Planning the dissertation</a:t>
            </a:r>
          </a:p>
          <a:p>
            <a:pPr marL="609600" indent="-609600">
              <a:buFont typeface="Wingdings" charset="2"/>
              <a:buAutoNum type="romanUcPeriod"/>
              <a:defRPr/>
            </a:pPr>
            <a:r>
              <a:rPr lang="en-GB" dirty="0"/>
              <a:t>Writing</a:t>
            </a:r>
          </a:p>
        </p:txBody>
      </p:sp>
    </p:spTree>
    <p:extLst>
      <p:ext uri="{BB962C8B-B14F-4D97-AF65-F5344CB8AC3E}">
        <p14:creationId xmlns:p14="http://schemas.microsoft.com/office/powerpoint/2010/main" val="3431082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>
            <a:extLst>
              <a:ext uri="{FF2B5EF4-FFF2-40B4-BE49-F238E27FC236}">
                <a16:creationId xmlns:a16="http://schemas.microsoft.com/office/drawing/2014/main" id="{54D78809-56A5-7C43-A405-700C340AB9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Sources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0340D2A1-4A36-E94B-95AA-F52DB97226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IE" altLang="en-US" sz="2100">
                <a:ea typeface="ＭＳ Ｐゴシック" panose="020B0600070205080204" pitchFamily="34" charset="-128"/>
              </a:rPr>
              <a:t>Gail Craswell, </a:t>
            </a:r>
            <a:r>
              <a:rPr lang="en-IE" altLang="en-US" sz="2100" i="1">
                <a:ea typeface="ＭＳ Ｐゴシック" panose="020B0600070205080204" pitchFamily="34" charset="-128"/>
              </a:rPr>
              <a:t>Writing for Academic Success</a:t>
            </a:r>
            <a:r>
              <a:rPr lang="en-IE" altLang="en-US" sz="2100">
                <a:ea typeface="ＭＳ Ｐゴシック" panose="020B0600070205080204" pitchFamily="34" charset="-128"/>
              </a:rPr>
              <a:t>, Sage Study Skills, 2005</a:t>
            </a:r>
          </a:p>
          <a:p>
            <a:pPr lvl="1" eaLnBrk="1" hangingPunct="1">
              <a:lnSpc>
                <a:spcPct val="90000"/>
              </a:lnSpc>
            </a:pPr>
            <a:r>
              <a:rPr lang="en-IE" altLang="en-US" sz="1800">
                <a:ea typeface="ＭＳ Ｐゴシック" panose="020B0600070205080204" pitchFamily="34" charset="-128"/>
              </a:rPr>
              <a:t>lots of very specific advice</a:t>
            </a:r>
          </a:p>
          <a:p>
            <a:pPr eaLnBrk="1" hangingPunct="1">
              <a:lnSpc>
                <a:spcPct val="90000"/>
              </a:lnSpc>
            </a:pPr>
            <a:r>
              <a:rPr lang="en-IE" altLang="en-US" sz="2100">
                <a:ea typeface="ＭＳ Ｐゴシック" panose="020B0600070205080204" pitchFamily="34" charset="-128"/>
              </a:rPr>
              <a:t>Murray, R. and S. Moore, The Handbook of Academic Writing, A Fresh Approach, Open University Press, 2006</a:t>
            </a:r>
          </a:p>
          <a:p>
            <a:pPr lvl="1" eaLnBrk="1" hangingPunct="1">
              <a:lnSpc>
                <a:spcPct val="90000"/>
              </a:lnSpc>
            </a:pPr>
            <a:r>
              <a:rPr lang="en-IE" altLang="en-US" sz="1800">
                <a:ea typeface="ＭＳ Ｐゴシック" panose="020B0600070205080204" pitchFamily="34" charset="-128"/>
              </a:rPr>
              <a:t>developing the writing habit</a:t>
            </a:r>
          </a:p>
          <a:p>
            <a:pPr eaLnBrk="1" hangingPunct="1">
              <a:lnSpc>
                <a:spcPct val="90000"/>
              </a:lnSpc>
            </a:pPr>
            <a:r>
              <a:rPr lang="en-IE" altLang="en-US" sz="2100">
                <a:ea typeface="ＭＳ Ｐゴシック" panose="020B0600070205080204" pitchFamily="34" charset="-128"/>
                <a:hlinkClick r:id="rId2"/>
              </a:rPr>
              <a:t>www.uefap.com</a:t>
            </a:r>
            <a:endParaRPr lang="en-IE" altLang="en-US" sz="21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IE" altLang="en-US" sz="1800">
                <a:ea typeface="ＭＳ Ｐゴシック" panose="020B0600070205080204" pitchFamily="34" charset="-128"/>
              </a:rPr>
              <a:t>Using English For Academic Purposes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10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1906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0783209A-3242-0847-A1C0-2E1A06988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Some online tools</a:t>
            </a: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A9087B31-A1A8-0445-B17B-C3D0E56D0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dirty="0">
                <a:ea typeface="ＭＳ Ｐゴシック" panose="020B0600070205080204" pitchFamily="34" charset="-128"/>
              </a:rPr>
              <a:t>Hemingway for writing style</a:t>
            </a:r>
          </a:p>
          <a:p>
            <a:r>
              <a:rPr lang="en-US" altLang="en-US" sz="1800" dirty="0" err="1">
                <a:ea typeface="ＭＳ Ｐゴシック" panose="020B0600070205080204" pitchFamily="34" charset="-128"/>
              </a:rPr>
              <a:t>Grammarly.com</a:t>
            </a:r>
            <a:r>
              <a:rPr lang="en-US" altLang="en-US" sz="1800" dirty="0">
                <a:ea typeface="ＭＳ Ｐゴシック" panose="020B0600070205080204" pitchFamily="34" charset="-128"/>
              </a:rPr>
              <a:t> for advanced grammar checking</a:t>
            </a:r>
          </a:p>
          <a:p>
            <a:r>
              <a:rPr lang="en-US" altLang="en-US" sz="1800" dirty="0">
                <a:ea typeface="ＭＳ Ｐゴシック" panose="020B0600070205080204" pitchFamily="34" charset="-128"/>
                <a:hlinkClick r:id="rId2"/>
              </a:rPr>
              <a:t>writefullapp.com</a:t>
            </a:r>
            <a:r>
              <a:rPr lang="en-US" altLang="en-US" sz="1800" dirty="0">
                <a:ea typeface="ＭＳ Ｐゴシック" panose="020B0600070205080204" pitchFamily="34" charset="-128"/>
              </a:rPr>
              <a:t> for checking how often your phrase or text appears on Google, and so is it correct?, and suggest words for contexts, etc.?</a:t>
            </a:r>
          </a:p>
          <a:p>
            <a:r>
              <a:rPr lang="en-US" altLang="en-US" sz="1800" dirty="0">
                <a:ea typeface="ＭＳ Ｐゴシック" panose="020B0600070205080204" pitchFamily="34" charset="-128"/>
              </a:rPr>
              <a:t>Scrivener for full toolkit for a dissertation or other long document.</a:t>
            </a:r>
          </a:p>
          <a:p>
            <a:r>
              <a:rPr lang="en-US" altLang="en-US" sz="1800" dirty="0">
                <a:ea typeface="ＭＳ Ｐゴシック" panose="020B0600070205080204" pitchFamily="34" charset="-128"/>
              </a:rPr>
              <a:t>See others on http://</a:t>
            </a:r>
            <a:r>
              <a:rPr lang="en-US" altLang="en-US" sz="1800" dirty="0" err="1">
                <a:ea typeface="ＭＳ Ｐゴシック" panose="020B0600070205080204" pitchFamily="34" charset="-128"/>
              </a:rPr>
              <a:t>www.producthunt.com</a:t>
            </a:r>
            <a:r>
              <a:rPr lang="en-US" altLang="en-US" sz="1800" dirty="0">
                <a:ea typeface="ＭＳ Ｐゴシック" panose="020B0600070205080204" pitchFamily="34" charset="-128"/>
              </a:rPr>
              <a:t>/e/tools-for-writers</a:t>
            </a:r>
          </a:p>
        </p:txBody>
      </p:sp>
    </p:spTree>
    <p:extLst>
      <p:ext uri="{BB962C8B-B14F-4D97-AF65-F5344CB8AC3E}">
        <p14:creationId xmlns:p14="http://schemas.microsoft.com/office/powerpoint/2010/main" val="3406549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>
            <a:extLst>
              <a:ext uri="{FF2B5EF4-FFF2-40B4-BE49-F238E27FC236}">
                <a16:creationId xmlns:a16="http://schemas.microsoft.com/office/drawing/2014/main" id="{03FBFC17-FB9F-004E-AAA3-C865C01B7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I. Preparing the ground</a:t>
            </a:r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01219A61-EA34-104A-93C5-059F009E15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  <a:buFont typeface="Wingdings" pitchFamily="2" charset="2"/>
              <a:buAutoNum type="alphaLcPeriod"/>
            </a:pPr>
            <a:r>
              <a:rPr lang="en-US" altLang="en-US">
                <a:ea typeface="ＭＳ Ｐゴシック" panose="020B0600070205080204" pitchFamily="34" charset="-128"/>
              </a:rPr>
              <a:t>Expectations</a:t>
            </a:r>
          </a:p>
          <a:p>
            <a:pPr marL="742950" lvl="1" indent="-400050"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en-US">
                <a:ea typeface="ＭＳ Ｐゴシック" panose="020B0600070205080204" pitchFamily="34" charset="-128"/>
              </a:rPr>
              <a:t>What is expected of your dissertation?</a:t>
            </a:r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lphaLcPeriod"/>
            </a:pPr>
            <a:r>
              <a:rPr lang="en-US" altLang="en-US">
                <a:ea typeface="ＭＳ Ｐゴシック" panose="020B0600070205080204" pitchFamily="34" charset="-128"/>
              </a:rPr>
              <a:t>Information Management</a:t>
            </a:r>
          </a:p>
          <a:p>
            <a:pPr marL="742950" lvl="1" indent="-400050"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en-US">
                <a:ea typeface="ＭＳ Ｐゴシック" panose="020B0600070205080204" pitchFamily="34" charset="-128"/>
              </a:rPr>
              <a:t>Keep in mind the goal as you gather info and data</a:t>
            </a:r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lphaLcPeriod"/>
            </a:pPr>
            <a:r>
              <a:rPr lang="en-US" altLang="en-US">
                <a:ea typeface="ＭＳ Ｐゴシック" panose="020B0600070205080204" pitchFamily="34" charset="-128"/>
              </a:rPr>
              <a:t>Time and Space Management</a:t>
            </a:r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lphaLcPeriod"/>
            </a:pPr>
            <a:r>
              <a:rPr lang="en-US" altLang="en-US">
                <a:ea typeface="ＭＳ Ｐゴシック" panose="020B0600070205080204" pitchFamily="34" charset="-128"/>
              </a:rPr>
              <a:t>Practice Writing</a:t>
            </a:r>
          </a:p>
          <a:p>
            <a:pPr marL="742950" lvl="1" indent="-400050"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en-US">
                <a:ea typeface="ＭＳ Ｐゴシック" panose="020B0600070205080204" pitchFamily="34" charset="-128"/>
              </a:rPr>
              <a:t>Write early and often</a:t>
            </a:r>
          </a:p>
        </p:txBody>
      </p:sp>
    </p:spTree>
    <p:extLst>
      <p:ext uri="{BB962C8B-B14F-4D97-AF65-F5344CB8AC3E}">
        <p14:creationId xmlns:p14="http://schemas.microsoft.com/office/powerpoint/2010/main" val="3400555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>
            <a:extLst>
              <a:ext uri="{FF2B5EF4-FFF2-40B4-BE49-F238E27FC236}">
                <a16:creationId xmlns:a16="http://schemas.microsoft.com/office/drawing/2014/main" id="{604EC89B-EE6F-B948-9226-D3C6FAD437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II. Planning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39CD4206-D41E-B64B-92A1-958ED05460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Wingdings" pitchFamily="2" charset="2"/>
              <a:buAutoNum type="alphaLcPeriod"/>
            </a:pPr>
            <a:r>
              <a:rPr lang="en-US" altLang="en-US">
                <a:ea typeface="ＭＳ Ｐゴシック" panose="020B0600070205080204" pitchFamily="34" charset="-128"/>
              </a:rPr>
              <a:t>Whole text development</a:t>
            </a:r>
          </a:p>
          <a:p>
            <a:pPr marL="457200" indent="-457200">
              <a:buFont typeface="Wingdings" pitchFamily="2" charset="2"/>
              <a:buAutoNum type="alphaLcPeriod"/>
            </a:pPr>
            <a:r>
              <a:rPr lang="en-US" altLang="en-US">
                <a:ea typeface="ＭＳ Ｐゴシック" panose="020B0600070205080204" pitchFamily="34" charset="-128"/>
              </a:rPr>
              <a:t>Sequential outlining</a:t>
            </a:r>
          </a:p>
          <a:p>
            <a:pPr marL="457200" indent="-457200">
              <a:buFont typeface="Wingdings" pitchFamily="2" charset="2"/>
              <a:buAutoNum type="alphaLcPeriod"/>
            </a:pPr>
            <a:r>
              <a:rPr lang="en-US" altLang="en-US">
                <a:ea typeface="ＭＳ Ｐゴシック" panose="020B0600070205080204" pitchFamily="34" charset="-128"/>
              </a:rPr>
              <a:t>Planning formatting, typography, etc.</a:t>
            </a:r>
          </a:p>
        </p:txBody>
      </p:sp>
    </p:spTree>
    <p:extLst>
      <p:ext uri="{BB962C8B-B14F-4D97-AF65-F5344CB8AC3E}">
        <p14:creationId xmlns:p14="http://schemas.microsoft.com/office/powerpoint/2010/main" val="18978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>
            <a:extLst>
              <a:ext uri="{FF2B5EF4-FFF2-40B4-BE49-F238E27FC236}">
                <a16:creationId xmlns:a16="http://schemas.microsoft.com/office/drawing/2014/main" id="{D19E7835-39BD-7C42-A343-5F35313296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III. Writing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76004E3D-014B-9E4F-9094-F1CD49FFAC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  <a:buFont typeface="Wingdings" pitchFamily="2" charset="2"/>
              <a:buAutoNum type="alphaLcPeriod"/>
            </a:pPr>
            <a:r>
              <a:rPr lang="en-GB" altLang="en-US" dirty="0">
                <a:ea typeface="ＭＳ Ｐゴシック" panose="020B0600070205080204" pitchFamily="34" charset="-128"/>
              </a:rPr>
              <a:t>Academic writing</a:t>
            </a:r>
          </a:p>
          <a:p>
            <a:pPr marL="742950" lvl="1" indent="-400050">
              <a:lnSpc>
                <a:spcPct val="90000"/>
              </a:lnSpc>
              <a:buFont typeface="Wingdings" pitchFamily="2" charset="2"/>
              <a:buChar char="Ø"/>
            </a:pPr>
            <a:r>
              <a:rPr lang="en-GB" altLang="en-US" dirty="0">
                <a:ea typeface="ＭＳ Ｐゴシック" panose="020B0600070205080204" pitchFamily="34" charset="-128"/>
              </a:rPr>
              <a:t>formal, objective, explicit,…</a:t>
            </a:r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lphaLcPeriod"/>
            </a:pPr>
            <a:r>
              <a:rPr lang="en-GB" altLang="en-US" dirty="0">
                <a:ea typeface="ＭＳ Ｐゴシック" panose="020B0600070205080204" pitchFamily="34" charset="-128"/>
              </a:rPr>
              <a:t>Good academic writing</a:t>
            </a:r>
          </a:p>
          <a:p>
            <a:pPr marL="742950" lvl="1" indent="-400050">
              <a:lnSpc>
                <a:spcPct val="90000"/>
              </a:lnSpc>
              <a:buFont typeface="Wingdings" pitchFamily="2" charset="2"/>
              <a:buChar char="Ø"/>
            </a:pPr>
            <a:r>
              <a:rPr lang="ja-JP" altLang="en-GB">
                <a:ea typeface="ＭＳ Ｐゴシック" panose="020B0600070205080204" pitchFamily="34" charset="-128"/>
              </a:rPr>
              <a:t>“</a:t>
            </a:r>
            <a:r>
              <a:rPr lang="en-GB" altLang="ja-JP" dirty="0">
                <a:ea typeface="ＭＳ Ｐゴシック" panose="020B0600070205080204" pitchFamily="34" charset="-128"/>
              </a:rPr>
              <a:t>Clarity is the first rule of style</a:t>
            </a:r>
            <a:r>
              <a:rPr lang="ja-JP" altLang="en-GB">
                <a:ea typeface="ＭＳ Ｐゴシック" panose="020B0600070205080204" pitchFamily="34" charset="-128"/>
              </a:rPr>
              <a:t>”</a:t>
            </a:r>
            <a:endParaRPr lang="en-GB" altLang="ja-JP" dirty="0">
              <a:ea typeface="ＭＳ Ｐゴシック" panose="020B0600070205080204" pitchFamily="34" charset="-128"/>
            </a:endParaRPr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lphaLcPeriod"/>
            </a:pPr>
            <a:r>
              <a:rPr lang="en-GB" altLang="en-US" dirty="0">
                <a:ea typeface="ＭＳ Ｐゴシック" panose="020B0600070205080204" pitchFamily="34" charset="-128"/>
              </a:rPr>
              <a:t>The writing process</a:t>
            </a:r>
          </a:p>
          <a:p>
            <a:pPr marL="742950" lvl="1" indent="-400050">
              <a:lnSpc>
                <a:spcPct val="90000"/>
              </a:lnSpc>
              <a:buFont typeface="Wingdings" pitchFamily="2" charset="2"/>
              <a:buChar char="Ø"/>
            </a:pPr>
            <a:r>
              <a:rPr lang="en-IE" altLang="en-US" dirty="0">
                <a:ea typeface="ＭＳ Ｐゴシック" panose="020B0600070205080204" pitchFamily="34" charset="-128"/>
              </a:rPr>
              <a:t>writing blocks</a:t>
            </a:r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lphaLcPeriod"/>
            </a:pPr>
            <a:r>
              <a:rPr lang="en-GB" altLang="en-US" dirty="0">
                <a:ea typeface="ＭＳ Ｐゴシック" panose="020B0600070205080204" pitchFamily="34" charset="-128"/>
              </a:rPr>
              <a:t>Avoiding plagiarism   -  </a:t>
            </a:r>
            <a:r>
              <a:rPr lang="en-GB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See Literature Review Section</a:t>
            </a:r>
          </a:p>
          <a:p>
            <a:pPr marL="742950" lvl="1" indent="-400050">
              <a:lnSpc>
                <a:spcPct val="90000"/>
              </a:lnSpc>
              <a:buFont typeface="Wingdings" pitchFamily="2" charset="2"/>
              <a:buChar char="Ø"/>
            </a:pPr>
            <a:r>
              <a:rPr lang="en-GB" altLang="en-US" dirty="0">
                <a:ea typeface="ＭＳ Ｐゴシック" panose="020B0600070205080204" pitchFamily="34" charset="-128"/>
              </a:rPr>
              <a:t>appropriate use of source material</a:t>
            </a:r>
          </a:p>
          <a:p>
            <a:pPr marL="742950" lvl="1" indent="-400050">
              <a:lnSpc>
                <a:spcPct val="90000"/>
              </a:lnSpc>
              <a:buFont typeface="Wingdings" pitchFamily="2" charset="2"/>
              <a:buChar char="Ø"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5641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E9C76-6B9D-004E-AE3A-7E7CEFE9A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proceeding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223A7-C7D0-BA4D-A545-3E353411D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Google Scholar or the TCD library databases to identify one quality academic paper relevant to your project topic (or to a module you are taking)</a:t>
            </a:r>
          </a:p>
          <a:p>
            <a:r>
              <a:rPr lang="en-US" dirty="0"/>
              <a:t>Scan it quickly to get a sense of how it is organized, what it’s aim, methods and findings are.</a:t>
            </a:r>
          </a:p>
          <a:p>
            <a:r>
              <a:rPr lang="en-US" dirty="0"/>
              <a:t>Keep it to hand for tasks throughout this week.</a:t>
            </a:r>
          </a:p>
        </p:txBody>
      </p:sp>
    </p:spTree>
    <p:extLst>
      <p:ext uri="{BB962C8B-B14F-4D97-AF65-F5344CB8AC3E}">
        <p14:creationId xmlns:p14="http://schemas.microsoft.com/office/powerpoint/2010/main" val="3773751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>
            <a:extLst>
              <a:ext uri="{FF2B5EF4-FFF2-40B4-BE49-F238E27FC236}">
                <a16:creationId xmlns:a16="http://schemas.microsoft.com/office/drawing/2014/main" id="{C8DA79F3-49C5-9842-8F43-FC2AD5A391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III.a Academic Writing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90F49162-A6AA-4F41-9D1A-0FD455176C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IE" altLang="en-US" sz="1800">
                <a:ea typeface="ＭＳ Ｐゴシック" panose="020B0600070205080204" pitchFamily="34" charset="-128"/>
              </a:rPr>
              <a:t>Based on </a:t>
            </a:r>
            <a:r>
              <a:rPr lang="en-IE" altLang="en-US" sz="1800">
                <a:ea typeface="ＭＳ Ｐゴシック" panose="020B0600070205080204" pitchFamily="34" charset="-128"/>
                <a:hlinkClick r:id="rId2"/>
              </a:rPr>
              <a:t>www.uefap.com</a:t>
            </a:r>
            <a:endParaRPr lang="en-IE" altLang="en-US" sz="180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Academic writing is</a:t>
            </a:r>
          </a:p>
          <a:p>
            <a:pPr lvl="1" eaLnBrk="1" hangingPunct="1"/>
            <a:r>
              <a:rPr lang="en-IE" altLang="en-US">
                <a:ea typeface="ＭＳ Ｐゴシック" panose="020B0600070205080204" pitchFamily="34" charset="-128"/>
              </a:rPr>
              <a:t>Complex</a:t>
            </a:r>
          </a:p>
          <a:p>
            <a:pPr lvl="1" eaLnBrk="1" hangingPunct="1"/>
            <a:r>
              <a:rPr lang="en-IE" altLang="en-US">
                <a:ea typeface="ＭＳ Ｐゴシック" panose="020B0600070205080204" pitchFamily="34" charset="-128"/>
              </a:rPr>
              <a:t>Formal</a:t>
            </a:r>
          </a:p>
          <a:p>
            <a:pPr lvl="1" eaLnBrk="1" hangingPunct="1"/>
            <a:r>
              <a:rPr lang="en-IE" altLang="en-US">
                <a:ea typeface="ＭＳ Ｐゴシック" panose="020B0600070205080204" pitchFamily="34" charset="-128"/>
              </a:rPr>
              <a:t>Objective</a:t>
            </a:r>
          </a:p>
          <a:p>
            <a:pPr lvl="1" eaLnBrk="1" hangingPunct="1"/>
            <a:r>
              <a:rPr lang="en-IE" altLang="en-US">
                <a:ea typeface="ＭＳ Ｐゴシック" panose="020B0600070205080204" pitchFamily="34" charset="-128"/>
              </a:rPr>
              <a:t>Explicit</a:t>
            </a:r>
          </a:p>
          <a:p>
            <a:pPr lvl="1" eaLnBrk="1" hangingPunct="1"/>
            <a:r>
              <a:rPr lang="en-IE" altLang="en-US">
                <a:ea typeface="ＭＳ Ｐゴシック" panose="020B0600070205080204" pitchFamily="34" charset="-128"/>
              </a:rPr>
              <a:t>Careful and responsible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9890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>
            <a:extLst>
              <a:ext uri="{FF2B5EF4-FFF2-40B4-BE49-F238E27FC236}">
                <a16:creationId xmlns:a16="http://schemas.microsoft.com/office/drawing/2014/main" id="{ACB907C8-83A7-934E-A16D-7C98479F6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Academic Writing - Complex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43751978-FBB8-D445-81EA-238FD5C6CB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Complex language</a:t>
            </a:r>
          </a:p>
          <a:p>
            <a:pPr lvl="1" eaLnBrk="1" hangingPunct="1"/>
            <a:r>
              <a:rPr lang="en-IE" altLang="en-US">
                <a:ea typeface="ＭＳ Ｐゴシック" panose="020B0600070205080204" pitchFamily="34" charset="-128"/>
              </a:rPr>
              <a:t>more dense than spoken word</a:t>
            </a:r>
          </a:p>
          <a:p>
            <a:pPr lvl="1" eaLnBrk="1" hangingPunct="1"/>
            <a:r>
              <a:rPr lang="en-IE" altLang="en-US">
                <a:ea typeface="ＭＳ Ｐゴシック" panose="020B0600070205080204" pitchFamily="34" charset="-128"/>
              </a:rPr>
              <a:t>complex words – prefixes and suffixes</a:t>
            </a:r>
          </a:p>
          <a:p>
            <a:pPr lvl="1" eaLnBrk="1" hangingPunct="1"/>
            <a:r>
              <a:rPr lang="en-IE" altLang="en-US">
                <a:ea typeface="ＭＳ Ｐゴシック" panose="020B0600070205080204" pitchFamily="34" charset="-128"/>
              </a:rPr>
              <a:t>use of sub-clauses</a:t>
            </a:r>
          </a:p>
          <a:p>
            <a:pPr lvl="1" eaLnBrk="1" hangingPunct="1"/>
            <a:r>
              <a:rPr lang="en-IE" altLang="en-US">
                <a:ea typeface="ＭＳ Ｐゴシック" panose="020B0600070205080204" pitchFamily="34" charset="-128"/>
              </a:rPr>
              <a:t>use of passive voice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7654" name="Hexagon 6">
            <a:extLst>
              <a:ext uri="{FF2B5EF4-FFF2-40B4-BE49-F238E27FC236}">
                <a16:creationId xmlns:a16="http://schemas.microsoft.com/office/drawing/2014/main" id="{80A511F5-AF5F-B84F-91A8-C603DC145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050" y="3543300"/>
            <a:ext cx="1485900" cy="1428750"/>
          </a:xfrm>
          <a:prstGeom prst="hexagon">
            <a:avLst>
              <a:gd name="adj" fmla="val 24999"/>
              <a:gd name="vf" fmla="val 11547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Exercise:</a:t>
            </a:r>
          </a:p>
          <a:p>
            <a:r>
              <a:rPr lang="en-US" altLang="en-US" sz="1200"/>
              <a:t>Look for examples in your text.</a:t>
            </a:r>
          </a:p>
        </p:txBody>
      </p:sp>
    </p:spTree>
    <p:extLst>
      <p:ext uri="{BB962C8B-B14F-4D97-AF65-F5344CB8AC3E}">
        <p14:creationId xmlns:p14="http://schemas.microsoft.com/office/powerpoint/2010/main" val="593390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>
            <a:extLst>
              <a:ext uri="{FF2B5EF4-FFF2-40B4-BE49-F238E27FC236}">
                <a16:creationId xmlns:a16="http://schemas.microsoft.com/office/drawing/2014/main" id="{1E7F8579-2430-8C43-A7A9-CC072BC340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Voice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644D6B3F-5E5E-7946-B16B-4E146D2C95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IE" altLang="en-US" sz="1500">
                <a:ea typeface="ＭＳ Ｐゴシック" panose="020B0600070205080204" pitchFamily="34" charset="-128"/>
              </a:rPr>
              <a:t>Active voice</a:t>
            </a:r>
          </a:p>
          <a:p>
            <a:pPr lvl="1" eaLnBrk="1" hangingPunct="1">
              <a:lnSpc>
                <a:spcPct val="80000"/>
              </a:lnSpc>
            </a:pPr>
            <a:r>
              <a:rPr lang="en-IE" altLang="en-US" sz="1350" i="1">
                <a:ea typeface="ＭＳ Ｐゴシック" panose="020B0600070205080204" pitchFamily="34" charset="-128"/>
              </a:rPr>
              <a:t>Results </a:t>
            </a:r>
            <a:r>
              <a:rPr lang="en-IE" altLang="en-US" sz="1350" b="1" i="1">
                <a:ea typeface="ＭＳ Ｐゴシック" panose="020B0600070205080204" pitchFamily="34" charset="-128"/>
              </a:rPr>
              <a:t>confirm</a:t>
            </a:r>
            <a:r>
              <a:rPr lang="en-IE" altLang="en-US" sz="1350" i="1">
                <a:ea typeface="ＭＳ Ｐゴシック" panose="020B0600070205080204" pitchFamily="34" charset="-128"/>
              </a:rPr>
              <a:t> an increase in the incidence of …</a:t>
            </a:r>
          </a:p>
          <a:p>
            <a:pPr eaLnBrk="1" hangingPunct="1">
              <a:lnSpc>
                <a:spcPct val="80000"/>
              </a:lnSpc>
            </a:pPr>
            <a:r>
              <a:rPr lang="en-IE" altLang="en-US" sz="1500">
                <a:ea typeface="ＭＳ Ｐゴシック" panose="020B0600070205080204" pitchFamily="34" charset="-128"/>
              </a:rPr>
              <a:t>Passive voice</a:t>
            </a:r>
          </a:p>
          <a:p>
            <a:pPr lvl="1" eaLnBrk="1" hangingPunct="1">
              <a:lnSpc>
                <a:spcPct val="80000"/>
              </a:lnSpc>
            </a:pPr>
            <a:r>
              <a:rPr lang="en-IE" altLang="en-US" sz="1350" i="1">
                <a:ea typeface="ＭＳ Ｐゴシック" panose="020B0600070205080204" pitchFamily="34" charset="-128"/>
              </a:rPr>
              <a:t>An increase in the incidence of … </a:t>
            </a:r>
            <a:r>
              <a:rPr lang="en-IE" altLang="en-US" sz="1350" b="1" i="1">
                <a:ea typeface="ＭＳ Ｐゴシック" panose="020B0600070205080204" pitchFamily="34" charset="-128"/>
              </a:rPr>
              <a:t>is confirmed</a:t>
            </a:r>
            <a:r>
              <a:rPr lang="en-IE" altLang="en-US" sz="1350" i="1">
                <a:ea typeface="ＭＳ Ｐゴシック" panose="020B0600070205080204" pitchFamily="34" charset="-128"/>
              </a:rPr>
              <a:t> by the results.</a:t>
            </a:r>
          </a:p>
          <a:p>
            <a:pPr eaLnBrk="1" hangingPunct="1">
              <a:lnSpc>
                <a:spcPct val="80000"/>
              </a:lnSpc>
            </a:pPr>
            <a:r>
              <a:rPr lang="en-IE" altLang="en-US" sz="1500">
                <a:ea typeface="ＭＳ Ｐゴシック" panose="020B0600070205080204" pitchFamily="34" charset="-128"/>
              </a:rPr>
              <a:t>Be aware of the difference and of the effect</a:t>
            </a:r>
          </a:p>
          <a:p>
            <a:pPr lvl="1" eaLnBrk="1" hangingPunct="1">
              <a:lnSpc>
                <a:spcPct val="80000"/>
              </a:lnSpc>
            </a:pPr>
            <a:r>
              <a:rPr lang="en-IE" altLang="en-US" sz="1200" i="1">
                <a:ea typeface="ＭＳ Ｐゴシック" panose="020B0600070205080204" pitchFamily="34" charset="-128"/>
              </a:rPr>
              <a:t>New measures </a:t>
            </a:r>
            <a:r>
              <a:rPr lang="en-IE" altLang="en-US" sz="1200" b="1" i="1">
                <a:ea typeface="ＭＳ Ｐゴシック" panose="020B0600070205080204" pitchFamily="34" charset="-128"/>
              </a:rPr>
              <a:t>were introduced</a:t>
            </a:r>
            <a:r>
              <a:rPr lang="en-IE" altLang="en-US" sz="1200" i="1">
                <a:ea typeface="ＭＳ Ｐゴシック" panose="020B0600070205080204" pitchFamily="34" charset="-128"/>
              </a:rPr>
              <a:t> to address output problems</a:t>
            </a:r>
          </a:p>
          <a:p>
            <a:pPr lvl="1" eaLnBrk="1" hangingPunct="1">
              <a:lnSpc>
                <a:spcPct val="80000"/>
              </a:lnSpc>
            </a:pPr>
            <a:r>
              <a:rPr lang="en-IE" altLang="en-US" sz="1200" i="1">
                <a:ea typeface="ＭＳ Ｐゴシック" panose="020B0600070205080204" pitchFamily="34" charset="-128"/>
              </a:rPr>
              <a:t>New measures were introduced by management to address output problems </a:t>
            </a:r>
          </a:p>
          <a:p>
            <a:pPr lvl="1" eaLnBrk="1" hangingPunct="1">
              <a:lnSpc>
                <a:spcPct val="80000"/>
              </a:lnSpc>
            </a:pPr>
            <a:r>
              <a:rPr lang="en-IE" altLang="en-US" sz="1200" i="1">
                <a:ea typeface="ＭＳ Ｐゴシック" panose="020B0600070205080204" pitchFamily="34" charset="-128"/>
              </a:rPr>
              <a:t>Management </a:t>
            </a:r>
            <a:r>
              <a:rPr lang="en-IE" altLang="en-US" sz="1200" b="1" i="1">
                <a:ea typeface="ＭＳ Ｐゴシック" panose="020B0600070205080204" pitchFamily="34" charset="-128"/>
              </a:rPr>
              <a:t>introduced</a:t>
            </a:r>
            <a:r>
              <a:rPr lang="en-IE" altLang="en-US" sz="1200" i="1">
                <a:ea typeface="ＭＳ Ｐゴシック" panose="020B0600070205080204" pitchFamily="34" charset="-128"/>
              </a:rPr>
              <a:t> new measures to address output problems</a:t>
            </a:r>
          </a:p>
          <a:p>
            <a:pPr eaLnBrk="1" hangingPunct="1">
              <a:lnSpc>
                <a:spcPct val="80000"/>
              </a:lnSpc>
            </a:pPr>
            <a:r>
              <a:rPr lang="en-IE" altLang="en-US" sz="1500">
                <a:ea typeface="ＭＳ Ｐゴシック" panose="020B0600070205080204" pitchFamily="34" charset="-128"/>
              </a:rPr>
              <a:t>Use active voice for clarity, energy and for better emphasis.</a:t>
            </a:r>
          </a:p>
          <a:p>
            <a:pPr eaLnBrk="1" hangingPunct="1">
              <a:lnSpc>
                <a:spcPct val="80000"/>
              </a:lnSpc>
            </a:pPr>
            <a:r>
              <a:rPr lang="en-IE" altLang="en-US" sz="1500">
                <a:ea typeface="ＭＳ Ｐゴシック" panose="020B0600070205080204" pitchFamily="34" charset="-128"/>
              </a:rPr>
              <a:t>Use passive voice to avoid referring to “I”, “We”, “This researcher”, for formality.</a:t>
            </a:r>
            <a:endParaRPr lang="en-US" altLang="en-US" sz="150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537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>
            <a:extLst>
              <a:ext uri="{FF2B5EF4-FFF2-40B4-BE49-F238E27FC236}">
                <a16:creationId xmlns:a16="http://schemas.microsoft.com/office/drawing/2014/main" id="{34B449C7-1A92-0A4A-8DEF-7AC583B673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Academic Writing - Formal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36E3FEC8-EC5D-1D49-A66E-43D7AC01F8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Avoid</a:t>
            </a:r>
          </a:p>
          <a:p>
            <a:pPr lvl="1" eaLnBrk="1" hangingPunct="1"/>
            <a:r>
              <a:rPr lang="en-IE" altLang="en-US">
                <a:ea typeface="ＭＳ Ｐゴシック" panose="020B0600070205080204" pitchFamily="34" charset="-128"/>
              </a:rPr>
              <a:t>slang, colloquialisms</a:t>
            </a:r>
          </a:p>
          <a:p>
            <a:pPr lvl="2" eaLnBrk="1" hangingPunct="1"/>
            <a:r>
              <a:rPr lang="en-IE" altLang="en-US">
                <a:ea typeface="ＭＳ Ｐゴシック" panose="020B0600070205080204" pitchFamily="34" charset="-128"/>
              </a:rPr>
              <a:t>stuff, a lot of, </a:t>
            </a:r>
          </a:p>
          <a:p>
            <a:pPr lvl="1" eaLnBrk="1" hangingPunct="1"/>
            <a:r>
              <a:rPr lang="en-IE" altLang="en-US">
                <a:ea typeface="ＭＳ Ｐゴシック" panose="020B0600070205080204" pitchFamily="34" charset="-128"/>
              </a:rPr>
              <a:t>abbreviations </a:t>
            </a:r>
          </a:p>
          <a:p>
            <a:pPr lvl="2" eaLnBrk="1" hangingPunct="1"/>
            <a:r>
              <a:rPr lang="en-IE" altLang="en-US">
                <a:ea typeface="ＭＳ Ｐゴシック" panose="020B0600070205080204" pitchFamily="34" charset="-128"/>
              </a:rPr>
              <a:t>can’t, doesn’t</a:t>
            </a:r>
          </a:p>
          <a:p>
            <a:pPr lvl="1" eaLnBrk="1" hangingPunct="1"/>
            <a:r>
              <a:rPr lang="en-IE" altLang="en-US">
                <a:ea typeface="ＭＳ Ｐゴシック" panose="020B0600070205080204" pitchFamily="34" charset="-128"/>
              </a:rPr>
              <a:t>two word verbs</a:t>
            </a:r>
          </a:p>
          <a:p>
            <a:pPr lvl="2" eaLnBrk="1" hangingPunct="1"/>
            <a:r>
              <a:rPr lang="en-IE" altLang="en-US">
                <a:ea typeface="ＭＳ Ｐゴシック" panose="020B0600070205080204" pitchFamily="34" charset="-128"/>
              </a:rPr>
              <a:t>put up with, looked into …</a:t>
            </a:r>
          </a:p>
          <a:p>
            <a:pPr lvl="1"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6439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>
            <a:extLst>
              <a:ext uri="{FF2B5EF4-FFF2-40B4-BE49-F238E27FC236}">
                <a16:creationId xmlns:a16="http://schemas.microsoft.com/office/drawing/2014/main" id="{BA75FB6C-555F-9C48-B815-DD37FD5D95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Academic Writing - Objective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C325D727-E78D-9142-9F70-12D43589A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It’s not about what you think, believe, feel, …</a:t>
            </a:r>
          </a:p>
          <a:p>
            <a:pPr lvl="1" eaLnBrk="1" hangingPunct="1"/>
            <a:r>
              <a:rPr lang="en-IE" altLang="en-US">
                <a:ea typeface="ＭＳ Ｐゴシック" panose="020B0600070205080204" pitchFamily="34" charset="-128"/>
              </a:rPr>
              <a:t>Avoid “I”, “my”, “we”, etc</a:t>
            </a:r>
          </a:p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Stick to what the literature and the primary research says.</a:t>
            </a:r>
          </a:p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You can still get your view across, subtly.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427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>
            <a:extLst>
              <a:ext uri="{FF2B5EF4-FFF2-40B4-BE49-F238E27FC236}">
                <a16:creationId xmlns:a16="http://schemas.microsoft.com/office/drawing/2014/main" id="{FCDCC115-6B0C-BB48-8A4E-27FCDFBFF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Academic Writing - Explicit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F54DEA5D-0C31-944C-873E-5A59C1B57F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IE" altLang="en-US" sz="2100">
                <a:ea typeface="ＭＳ Ｐゴシック" panose="020B0600070205080204" pitchFamily="34" charset="-128"/>
              </a:rPr>
              <a:t>Explicitly signal organisation of ideas</a:t>
            </a:r>
          </a:p>
          <a:p>
            <a:pPr eaLnBrk="1" hangingPunct="1"/>
            <a:r>
              <a:rPr lang="en-IE" altLang="en-US" sz="2100">
                <a:ea typeface="ＭＳ Ｐゴシック" panose="020B0600070205080204" pitchFamily="34" charset="-128"/>
              </a:rPr>
              <a:t>Make liberal but appropriate use of signals such as</a:t>
            </a:r>
          </a:p>
          <a:p>
            <a:pPr lvl="1" eaLnBrk="1" hangingPunct="1"/>
            <a:r>
              <a:rPr lang="en-IE" altLang="en-US" sz="1800">
                <a:ea typeface="ＭＳ Ｐゴシック" panose="020B0600070205080204" pitchFamily="34" charset="-128"/>
              </a:rPr>
              <a:t>however, nonetheless, but, despite,</a:t>
            </a:r>
          </a:p>
          <a:p>
            <a:pPr lvl="1" eaLnBrk="1" hangingPunct="1"/>
            <a:r>
              <a:rPr lang="en-IE" altLang="en-US" sz="1800">
                <a:ea typeface="ＭＳ Ｐゴシック" panose="020B0600070205080204" pitchFamily="34" charset="-128"/>
              </a:rPr>
              <a:t>because, since, as a result, therefore, in order to</a:t>
            </a:r>
          </a:p>
          <a:p>
            <a:pPr lvl="1" eaLnBrk="1" hangingPunct="1"/>
            <a:r>
              <a:rPr lang="en-IE" altLang="en-US" sz="1800">
                <a:ea typeface="ＭＳ Ｐゴシック" panose="020B0600070205080204" pitchFamily="34" charset="-128"/>
              </a:rPr>
              <a:t>similarly, in addition, </a:t>
            </a:r>
          </a:p>
          <a:p>
            <a:pPr lvl="1" eaLnBrk="1" hangingPunct="1"/>
            <a:r>
              <a:rPr lang="en-IE" altLang="en-US" sz="1800">
                <a:ea typeface="ＭＳ Ｐゴシック" panose="020B0600070205080204" pitchFamily="34" charset="-128"/>
              </a:rPr>
              <a:t>in other words, this means, that is to say</a:t>
            </a:r>
          </a:p>
          <a:p>
            <a:pPr lvl="1" eaLnBrk="1" hangingPunct="1"/>
            <a:r>
              <a:rPr lang="en-IE" altLang="en-US" sz="1800">
                <a:ea typeface="ＭＳ Ｐゴシック" panose="020B0600070205080204" pitchFamily="34" charset="-128"/>
              </a:rPr>
              <a:t>for example, such as, </a:t>
            </a:r>
          </a:p>
          <a:p>
            <a:pPr lvl="1" eaLnBrk="1" hangingPunct="1"/>
            <a:r>
              <a:rPr lang="en-IE" altLang="en-US" sz="1800">
                <a:ea typeface="ＭＳ Ｐゴシック" panose="020B0600070205080204" pitchFamily="34" charset="-128"/>
              </a:rPr>
              <a:t>naturally, obviously, it follows</a:t>
            </a:r>
          </a:p>
          <a:p>
            <a:pPr lvl="1" eaLnBrk="1" hangingPunct="1"/>
            <a:endParaRPr lang="en-US" altLang="en-US" sz="1800">
              <a:ea typeface="ＭＳ Ｐゴシック" panose="020B0600070205080204" pitchFamily="34" charset="-128"/>
            </a:endParaRPr>
          </a:p>
        </p:txBody>
      </p:sp>
      <p:sp>
        <p:nvSpPr>
          <p:cNvPr id="33798" name="Hexagon 6">
            <a:extLst>
              <a:ext uri="{FF2B5EF4-FFF2-40B4-BE49-F238E27FC236}">
                <a16:creationId xmlns:a16="http://schemas.microsoft.com/office/drawing/2014/main" id="{CE937776-AF46-BD4A-B181-58E8ADBBF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886200"/>
            <a:ext cx="1200150" cy="1085850"/>
          </a:xfrm>
          <a:prstGeom prst="hexagon">
            <a:avLst>
              <a:gd name="adj" fmla="val 25001"/>
              <a:gd name="vf" fmla="val 11547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/>
              <a:t>Exercise:</a:t>
            </a:r>
          </a:p>
          <a:p>
            <a:r>
              <a:rPr lang="en-US" altLang="en-US" sz="1200"/>
              <a:t>Look for signals in your text.</a:t>
            </a:r>
          </a:p>
        </p:txBody>
      </p:sp>
    </p:spTree>
    <p:extLst>
      <p:ext uri="{BB962C8B-B14F-4D97-AF65-F5344CB8AC3E}">
        <p14:creationId xmlns:p14="http://schemas.microsoft.com/office/powerpoint/2010/main" val="2004993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>
            <a:extLst>
              <a:ext uri="{FF2B5EF4-FFF2-40B4-BE49-F238E27FC236}">
                <a16:creationId xmlns:a16="http://schemas.microsoft.com/office/drawing/2014/main" id="{32282EB9-B1AD-C649-B748-219FB3EFA9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8679" y="270000"/>
            <a:ext cx="7500939" cy="969140"/>
          </a:xfrm>
        </p:spPr>
        <p:txBody>
          <a:bodyPr/>
          <a:lstStyle/>
          <a:p>
            <a:pPr eaLnBrk="1" hangingPunct="1"/>
            <a:r>
              <a:rPr lang="en-IE" altLang="en-US" dirty="0">
                <a:ea typeface="ＭＳ Ｐゴシック" panose="020B0600070205080204" pitchFamily="34" charset="-128"/>
              </a:rPr>
              <a:t>Academic Writing – Careful and responsible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D6BE9701-EADE-514B-A3B3-C563D9C03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IE" altLang="en-US" sz="2100">
                <a:ea typeface="ＭＳ Ｐゴシック" panose="020B0600070205080204" pitchFamily="34" charset="-128"/>
              </a:rPr>
              <a:t>Don’t exaggerate, on purpose or through inappropriate language</a:t>
            </a:r>
          </a:p>
          <a:p>
            <a:pPr lvl="1" eaLnBrk="1" hangingPunct="1"/>
            <a:r>
              <a:rPr lang="en-IE" altLang="en-US" sz="1800" i="1">
                <a:ea typeface="ＭＳ Ｐゴシック" panose="020B0600070205080204" pitchFamily="34" charset="-128"/>
              </a:rPr>
              <a:t>Patients can log on to the website …</a:t>
            </a:r>
          </a:p>
          <a:p>
            <a:pPr lvl="1" eaLnBrk="1" hangingPunct="1"/>
            <a:r>
              <a:rPr lang="en-IE" altLang="en-US" sz="1800" i="1">
                <a:ea typeface="ＭＳ Ｐゴシック" panose="020B0600070205080204" pitchFamily="34" charset="-128"/>
              </a:rPr>
              <a:t>Patients should be able to …</a:t>
            </a:r>
          </a:p>
          <a:p>
            <a:pPr lvl="1" eaLnBrk="1" hangingPunct="1"/>
            <a:r>
              <a:rPr lang="en-IE" altLang="en-US" sz="1800" i="1">
                <a:ea typeface="ＭＳ Ｐゴシック" panose="020B0600070205080204" pitchFamily="34" charset="-128"/>
              </a:rPr>
              <a:t>A majority of patients were able to …</a:t>
            </a:r>
          </a:p>
          <a:p>
            <a:pPr lvl="1" eaLnBrk="1" hangingPunct="1"/>
            <a:r>
              <a:rPr lang="en-IE" altLang="en-US" sz="1800">
                <a:ea typeface="ＭＳ Ｐゴシック" panose="020B0600070205080204" pitchFamily="34" charset="-128"/>
              </a:rPr>
              <a:t>Use often, maybe, possibly, … if necessary</a:t>
            </a:r>
          </a:p>
          <a:p>
            <a:pPr eaLnBrk="1" hangingPunct="1"/>
            <a:r>
              <a:rPr lang="en-IE" altLang="en-US" sz="2100">
                <a:ea typeface="ＭＳ Ｐゴシック" panose="020B0600070205080204" pitchFamily="34" charset="-128"/>
              </a:rPr>
              <a:t>Report accurately on sources</a:t>
            </a:r>
          </a:p>
          <a:p>
            <a:pPr lvl="1" eaLnBrk="1" hangingPunct="1"/>
            <a:r>
              <a:rPr lang="en-IE" altLang="en-US" sz="1800">
                <a:ea typeface="ＭＳ Ｐゴシック" panose="020B0600070205080204" pitchFamily="34" charset="-128"/>
              </a:rPr>
              <a:t>Record details carefully and refer back to the source when writing</a:t>
            </a:r>
            <a:endParaRPr lang="en-US" altLang="en-US" sz="180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8934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EA010B48-A503-094B-975E-85DB0A947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Conclusion of IIIa</a:t>
            </a:r>
            <a:endParaRPr lang="en-IE" altLang="en-US">
              <a:ea typeface="ＭＳ Ｐゴシック" panose="020B0600070205080204" pitchFamily="34" charset="-128"/>
            </a:endParaRPr>
          </a:p>
        </p:txBody>
      </p:sp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8A4E3C0A-9E42-A842-B33E-B14EC01BE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Academic writing is different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Observe the writing as you do your literature review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Practise!</a:t>
            </a:r>
          </a:p>
          <a:p>
            <a:pPr eaLnBrk="1" hangingPunct="1"/>
            <a:endParaRPr lang="en-IE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8746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>
            <a:extLst>
              <a:ext uri="{FF2B5EF4-FFF2-40B4-BE49-F238E27FC236}">
                <a16:creationId xmlns:a16="http://schemas.microsoft.com/office/drawing/2014/main" id="{05A8E9B7-9A6C-0149-84B9-27AEF90B1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III.b Good academic writing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C551B6A1-7822-7642-9EEC-001CBA4F7A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100">
                <a:ea typeface="ＭＳ Ｐゴシック" panose="020B0600070205080204" pitchFamily="34" charset="-128"/>
              </a:rPr>
              <a:t>Good academic writers impress with [Craswell]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Quality of their research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Complexity of their thinking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Soundness of their reasoning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Subtlety of their insights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Rigour and crispness of their prose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Sophistication with which they use the language of their discipline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>
                <a:ea typeface="ＭＳ Ｐゴシック" panose="020B0600070205080204" pitchFamily="34" charset="-128"/>
              </a:rPr>
              <a:t>Not with inflated abstract language!!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13472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>
            <a:extLst>
              <a:ext uri="{FF2B5EF4-FFF2-40B4-BE49-F238E27FC236}">
                <a16:creationId xmlns:a16="http://schemas.microsoft.com/office/drawing/2014/main" id="{E47DB4CC-A2D1-2E42-A32E-E43A1DE085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8679" y="76913"/>
            <a:ext cx="7500939" cy="1008404"/>
          </a:xfrm>
        </p:spPr>
        <p:txBody>
          <a:bodyPr/>
          <a:lstStyle/>
          <a:p>
            <a:pPr eaLnBrk="1" hangingPunct="1"/>
            <a:r>
              <a:rPr lang="en-GB" altLang="en-US" sz="3000" dirty="0">
                <a:ea typeface="ＭＳ Ｐゴシック" panose="020B0600070205080204" pitchFamily="34" charset="-128"/>
              </a:rPr>
              <a:t>Good writing is difficult to define but it is very easy to recognise</a:t>
            </a:r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8227C5C2-0993-1948-BF98-6E3765E2C5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8675" y="1085318"/>
            <a:ext cx="7500938" cy="3390946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250" dirty="0">
                <a:ea typeface="ＭＳ Ｐゴシック" panose="020B0600070205080204" pitchFamily="34" charset="-128"/>
              </a:rPr>
              <a:t>Something is written well if:-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</a:rPr>
              <a:t>It is clear what the topic is about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</a:rPr>
              <a:t>It has an easy to follow structure/framework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</a:rPr>
              <a:t>Sentences are succinct and thus easy to read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</a:rPr>
              <a:t>The imagination is captured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</a:rPr>
              <a:t>It </a:t>
            </a:r>
            <a:r>
              <a:rPr lang="en-GB" altLang="en-US" sz="1500" dirty="0" err="1">
                <a:ea typeface="ＭＳ Ｐゴシック" panose="020B0600070205080204" pitchFamily="34" charset="-128"/>
              </a:rPr>
              <a:t>isn</a:t>
            </a:r>
            <a:r>
              <a:rPr lang="ja-JP" altLang="en-GB" sz="1500">
                <a:ea typeface="ＭＳ Ｐゴシック" panose="020B0600070205080204" pitchFamily="34" charset="-128"/>
              </a:rPr>
              <a:t>’</a:t>
            </a:r>
            <a:r>
              <a:rPr lang="en-GB" altLang="ja-JP" sz="1500" dirty="0">
                <a:ea typeface="ＭＳ Ｐゴシック" panose="020B0600070205080204" pitchFamily="34" charset="-128"/>
              </a:rPr>
              <a:t>t pretentious, repetitive or rambling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</a:rPr>
              <a:t>The argument/s are supported by good examples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</a:rPr>
              <a:t>There are appropriate figures and tables supporting your argument/s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</a:rPr>
              <a:t>There is a minimum of typographical and spelling and grammatical mistakes &amp; paragraphs are not too long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</a:rPr>
              <a:t>The argument comes to a focal point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</a:rPr>
              <a:t>There is a competent list of references</a:t>
            </a:r>
          </a:p>
          <a:p>
            <a:pPr lvl="2" eaLnBrk="1" hangingPunct="1">
              <a:lnSpc>
                <a:spcPct val="80000"/>
              </a:lnSpc>
            </a:pPr>
            <a:endParaRPr lang="en-GB" altLang="en-US" sz="1500" dirty="0">
              <a:ea typeface="ＭＳ Ｐゴシック" panose="020B0600070205080204" pitchFamily="34" charset="-128"/>
            </a:endParaRPr>
          </a:p>
          <a:p>
            <a:pPr lvl="2" eaLnBrk="1" hangingPunct="1">
              <a:lnSpc>
                <a:spcPct val="80000"/>
              </a:lnSpc>
            </a:pPr>
            <a:endParaRPr lang="en-GB" altLang="en-US" sz="1500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GB" altLang="en-US" sz="195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4584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>
            <a:extLst>
              <a:ext uri="{FF2B5EF4-FFF2-40B4-BE49-F238E27FC236}">
                <a16:creationId xmlns:a16="http://schemas.microsoft.com/office/drawing/2014/main" id="{969D1CAE-A599-5C46-AA3A-EF0429019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Poor writing </a:t>
            </a:r>
          </a:p>
        </p:txBody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DD3276A7-5D6C-C745-BD19-3867231127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63316" y="1329928"/>
            <a:ext cx="5829300" cy="3509963"/>
          </a:xfrm>
        </p:spPr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Poor writing is sometimes the result of muddled thinking as opposed to the author</a:t>
            </a:r>
            <a:r>
              <a:rPr lang="ja-JP" altLang="en-GB">
                <a:ea typeface="ＭＳ Ｐゴシック" panose="020B0600070205080204" pitchFamily="34" charset="-128"/>
              </a:rPr>
              <a:t>’</a:t>
            </a:r>
            <a:r>
              <a:rPr lang="en-GB" altLang="ja-JP">
                <a:ea typeface="ＭＳ Ｐゴシック" panose="020B0600070205080204" pitchFamily="34" charset="-128"/>
              </a:rPr>
              <a:t>s ability to write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Be concise.</a:t>
            </a:r>
          </a:p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“Don't write merely to be understood. Write so that you cannot possibly be misunderstood.” R L Stevenson</a:t>
            </a:r>
            <a:endParaRPr lang="en-GB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685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6409CB47-E570-274E-A715-6256CA92C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Subtly muddling sentence …</a:t>
            </a:r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D07617A5-9DD8-E84C-AA84-4C9009C09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“More active involvement in system design may also prevent third parties from feeling threatened by an emphasis on teamwork as opposed to competition.”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“prevented … by … teamwork” or “threatened by … teamwork”?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Can you improve the sentence?</a:t>
            </a:r>
          </a:p>
        </p:txBody>
      </p:sp>
    </p:spTree>
    <p:extLst>
      <p:ext uri="{BB962C8B-B14F-4D97-AF65-F5344CB8AC3E}">
        <p14:creationId xmlns:p14="http://schemas.microsoft.com/office/powerpoint/2010/main" val="3602634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>
            <a:extLst>
              <a:ext uri="{FF2B5EF4-FFF2-40B4-BE49-F238E27FC236}">
                <a16:creationId xmlns:a16="http://schemas.microsoft.com/office/drawing/2014/main" id="{4FDA1B7B-6630-BE4E-AC28-23E6545AF1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Communicate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01DDC88C-C77E-4542-93BE-48E56907C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100" dirty="0">
                <a:ea typeface="ＭＳ Ｐゴシック" panose="020B0600070205080204" pitchFamily="34" charset="-128"/>
              </a:rPr>
              <a:t>It</a:t>
            </a:r>
            <a:r>
              <a:rPr lang="en-IE" altLang="en-US" sz="2100" dirty="0">
                <a:ea typeface="ＭＳ Ｐゴシック" panose="020B0600070205080204" pitchFamily="34" charset="-128"/>
              </a:rPr>
              <a:t>’</a:t>
            </a:r>
            <a:r>
              <a:rPr lang="en-GB" altLang="ja-JP" sz="2100" dirty="0">
                <a:ea typeface="ＭＳ Ｐゴシック" panose="020B0600070205080204" pitchFamily="34" charset="-128"/>
              </a:rPr>
              <a:t>s not a novel, murder mystery or literary work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 dirty="0">
                <a:ea typeface="ＭＳ Ｐゴシック" panose="020B0600070205080204" pitchFamily="34" charset="-128"/>
              </a:rPr>
              <a:t>Tell your reader what you plan to discuss, and remind her what you</a:t>
            </a:r>
            <a:r>
              <a:rPr lang="en-IE" altLang="en-US" sz="2100" dirty="0">
                <a:ea typeface="ＭＳ Ｐゴシック" panose="020B0600070205080204" pitchFamily="34" charset="-128"/>
              </a:rPr>
              <a:t>’</a:t>
            </a:r>
            <a:r>
              <a:rPr lang="en-GB" altLang="ja-JP" sz="2100" dirty="0" err="1">
                <a:ea typeface="ＭＳ Ｐゴシック" panose="020B0600070205080204" pitchFamily="34" charset="-128"/>
              </a:rPr>
              <a:t>ve</a:t>
            </a:r>
            <a:r>
              <a:rPr lang="en-GB" altLang="ja-JP" sz="2100" dirty="0">
                <a:ea typeface="ＭＳ Ｐゴシック" panose="020B0600070205080204" pitchFamily="34" charset="-128"/>
              </a:rPr>
              <a:t> said.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 dirty="0">
                <a:ea typeface="ＭＳ Ｐゴシック" panose="020B0600070205080204" pitchFamily="34" charset="-128"/>
              </a:rPr>
              <a:t>Repeat the project aim. Relate everything to the objectives.</a:t>
            </a:r>
          </a:p>
          <a:p>
            <a:pPr lvl="1" eaLnBrk="1" hangingPunct="1">
              <a:lnSpc>
                <a:spcPct val="90000"/>
              </a:lnSpc>
            </a:pPr>
            <a:r>
              <a:rPr lang="ja-JP" altLang="en-GB" sz="1800">
                <a:ea typeface="ＭＳ Ｐゴシック" panose="020B0600070205080204" pitchFamily="34" charset="-128"/>
              </a:rPr>
              <a:t>“</a:t>
            </a:r>
            <a:r>
              <a:rPr lang="en-GB" altLang="ja-JP" sz="1800" dirty="0">
                <a:ea typeface="ＭＳ Ｐゴシック" panose="020B0600070205080204" pitchFamily="34" charset="-128"/>
              </a:rPr>
              <a:t>This project aims to discover … This chapter provides the context for the work</a:t>
            </a:r>
            <a:r>
              <a:rPr lang="ja-JP" altLang="en-GB" sz="1800">
                <a:ea typeface="ＭＳ Ｐゴシック" panose="020B0600070205080204" pitchFamily="34" charset="-128"/>
              </a:rPr>
              <a:t>”</a:t>
            </a:r>
            <a:endParaRPr lang="en-GB" altLang="ja-JP" sz="1800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ja-JP" altLang="en-GB" sz="1800">
                <a:ea typeface="ＭＳ Ｐゴシック" panose="020B0600070205080204" pitchFamily="34" charset="-128"/>
              </a:rPr>
              <a:t>“</a:t>
            </a:r>
            <a:r>
              <a:rPr lang="en-GB" altLang="ja-JP" sz="1800" dirty="0">
                <a:ea typeface="ＭＳ Ｐゴシック" panose="020B0600070205080204" pitchFamily="34" charset="-128"/>
              </a:rPr>
              <a:t>This section discusses the findings relating to the second project objective, namely …</a:t>
            </a:r>
            <a:r>
              <a:rPr lang="ja-JP" altLang="en-GB" sz="1800">
                <a:ea typeface="ＭＳ Ｐゴシック" panose="020B0600070205080204" pitchFamily="34" charset="-128"/>
              </a:rPr>
              <a:t>”</a:t>
            </a:r>
            <a:endParaRPr lang="en-GB" altLang="en-US" sz="18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9023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>
            <a:extLst>
              <a:ext uri="{FF2B5EF4-FFF2-40B4-BE49-F238E27FC236}">
                <a16:creationId xmlns:a16="http://schemas.microsoft.com/office/drawing/2014/main" id="{6618E416-D2D7-654A-8DCE-52F1ACD09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Style – choosing words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4037" name="Rectangle 3">
            <a:extLst>
              <a:ext uri="{FF2B5EF4-FFF2-40B4-BE49-F238E27FC236}">
                <a16:creationId xmlns:a16="http://schemas.microsoft.com/office/drawing/2014/main" id="{B041FD4A-F72E-4B45-99CE-CFB8917697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100">
                <a:ea typeface="ＭＳ Ｐゴシック" panose="020B0600070205080204" pitchFamily="34" charset="-128"/>
              </a:rPr>
              <a:t>Use a broad range of vocabulary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because different words have subtly different meanings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but not just for the sake of variety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500">
                <a:ea typeface="ＭＳ Ｐゴシック" panose="020B0600070205080204" pitchFamily="34" charset="-128"/>
              </a:rPr>
              <a:t>Use the same word/phrase to refer to the same thing, or you will confuse your reader.</a:t>
            </a:r>
          </a:p>
          <a:p>
            <a:pPr eaLnBrk="1" hangingPunct="1">
              <a:lnSpc>
                <a:spcPct val="80000"/>
              </a:lnSpc>
            </a:pPr>
            <a:r>
              <a:rPr lang="en-IE" altLang="en-US" sz="2100">
                <a:ea typeface="ＭＳ Ｐゴシック" panose="020B0600070205080204" pitchFamily="34" charset="-128"/>
              </a:rPr>
              <a:t>Use words carefully</a:t>
            </a:r>
          </a:p>
          <a:p>
            <a:pPr lvl="1" eaLnBrk="1" hangingPunct="1">
              <a:lnSpc>
                <a:spcPct val="80000"/>
              </a:lnSpc>
            </a:pPr>
            <a:r>
              <a:rPr lang="en-IE" altLang="en-US" sz="1800">
                <a:ea typeface="ＭＳ Ｐゴシック" panose="020B0600070205080204" pitchFamily="34" charset="-128"/>
              </a:rPr>
              <a:t>Are you using the accepted meaning (in your discipline)?</a:t>
            </a:r>
          </a:p>
          <a:p>
            <a:pPr lvl="1" eaLnBrk="1" hangingPunct="1">
              <a:lnSpc>
                <a:spcPct val="80000"/>
              </a:lnSpc>
            </a:pPr>
            <a:r>
              <a:rPr lang="en-IE" altLang="en-US" sz="1800">
                <a:ea typeface="ＭＳ Ｐゴシック" panose="020B0600070205080204" pitchFamily="34" charset="-128"/>
              </a:rPr>
              <a:t>Do you need to set up the meanings of key terms in the text?</a:t>
            </a:r>
            <a:endParaRPr lang="en-US" altLang="en-US" sz="180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6060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>
            <a:extLst>
              <a:ext uri="{FF2B5EF4-FFF2-40B4-BE49-F238E27FC236}">
                <a16:creationId xmlns:a16="http://schemas.microsoft.com/office/drawing/2014/main" id="{4789C547-20A4-0047-8EFC-149061DA8D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Paragraphs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6085" name="Rectangle 3">
            <a:extLst>
              <a:ext uri="{FF2B5EF4-FFF2-40B4-BE49-F238E27FC236}">
                <a16:creationId xmlns:a16="http://schemas.microsoft.com/office/drawing/2014/main" id="{8162AE32-9483-AB40-9342-B37F3F46E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One main idea per paragraph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Coherent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Sentences flow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Expectations set up by one sentence are met in the next.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Linked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Repeat key words/phrases</a:t>
            </a:r>
          </a:p>
        </p:txBody>
      </p:sp>
    </p:spTree>
    <p:extLst>
      <p:ext uri="{BB962C8B-B14F-4D97-AF65-F5344CB8AC3E}">
        <p14:creationId xmlns:p14="http://schemas.microsoft.com/office/powerpoint/2010/main" val="2105797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>
            <a:extLst>
              <a:ext uri="{FF2B5EF4-FFF2-40B4-BE49-F238E27FC236}">
                <a16:creationId xmlns:a16="http://schemas.microsoft.com/office/drawing/2014/main" id="{412CDA0C-B207-BF49-B8DA-6E120BC80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Sections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1AF5C1DC-F354-AA47-9741-569A2A73F0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IE" altLang="en-US" sz="2100" dirty="0">
                <a:ea typeface="ＭＳ Ｐゴシック" panose="020B0600070205080204" pitchFamily="34" charset="-128"/>
              </a:rPr>
              <a:t>Use a well-planned hierarchical numbered section structure</a:t>
            </a:r>
          </a:p>
          <a:p>
            <a:pPr eaLnBrk="1" hangingPunct="1"/>
            <a:r>
              <a:rPr lang="en-IE" altLang="en-US" sz="2100" dirty="0">
                <a:ea typeface="ＭＳ Ｐゴシック" panose="020B0600070205080204" pitchFamily="34" charset="-128"/>
              </a:rPr>
              <a:t>Make sure the section heading reflects the content of the section.</a:t>
            </a:r>
          </a:p>
          <a:p>
            <a:pPr eaLnBrk="1" hangingPunct="1"/>
            <a:r>
              <a:rPr lang="en-IE" altLang="en-US" sz="2100" dirty="0">
                <a:ea typeface="ＭＳ Ｐゴシック" panose="020B0600070205080204" pitchFamily="34" charset="-128"/>
              </a:rPr>
              <a:t>Sequence sections logically</a:t>
            </a:r>
          </a:p>
          <a:p>
            <a:pPr eaLnBrk="1" hangingPunct="1"/>
            <a:r>
              <a:rPr lang="en-IE" altLang="en-US" sz="2100" dirty="0">
                <a:ea typeface="ＭＳ Ｐゴシック" panose="020B0600070205080204" pitchFamily="34" charset="-128"/>
              </a:rPr>
              <a:t>Signal and signpost between sections.</a:t>
            </a:r>
          </a:p>
          <a:p>
            <a:pPr eaLnBrk="1" hangingPunct="1"/>
            <a:r>
              <a:rPr lang="en-IE" altLang="en-US" sz="2100" dirty="0">
                <a:ea typeface="ＭＳ Ｐゴシック" panose="020B0600070205080204" pitchFamily="34" charset="-128"/>
              </a:rPr>
              <a:t>Conclusion concludes, summary summarises</a:t>
            </a:r>
          </a:p>
          <a:p>
            <a:pPr lvl="1" eaLnBrk="1" hangingPunct="1"/>
            <a:r>
              <a:rPr lang="en-IE" altLang="en-US" sz="1800" dirty="0">
                <a:ea typeface="ＭＳ Ｐゴシック" panose="020B0600070205080204" pitchFamily="34" charset="-128"/>
              </a:rPr>
              <a:t>don’t introduce new ideas in these sections.</a:t>
            </a:r>
            <a:endParaRPr lang="en-US" altLang="en-US" sz="18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53988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2">
            <a:extLst>
              <a:ext uri="{FF2B5EF4-FFF2-40B4-BE49-F238E27FC236}">
                <a16:creationId xmlns:a16="http://schemas.microsoft.com/office/drawing/2014/main" id="{94EDB8A0-B207-1F4B-A621-1A315B5179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Linking &amp; pronouns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8133" name="Rectangle 3">
            <a:extLst>
              <a:ext uri="{FF2B5EF4-FFF2-40B4-BE49-F238E27FC236}">
                <a16:creationId xmlns:a16="http://schemas.microsoft.com/office/drawing/2014/main" id="{DB7ECD7E-9D69-AA40-89FB-9204F06308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100">
                <a:ea typeface="ＭＳ Ｐゴシック" panose="020B0600070205080204" pitchFamily="34" charset="-128"/>
              </a:rPr>
              <a:t>When linking paragraphs be careful of pronouns with unclear referent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100">
                <a:ea typeface="ＭＳ Ｐゴシック" panose="020B0600070205080204" pitchFamily="34" charset="-128"/>
              </a:rPr>
              <a:t>Starting a paragraph “Because of these, Smith …”,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ea typeface="ＭＳ Ｐゴシック" panose="020B0600070205080204" pitchFamily="34" charset="-128"/>
              </a:rPr>
              <a:t>is it absolutely clear what “these” refers to??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ea typeface="ＭＳ Ｐゴシック" panose="020B0600070205080204" pitchFamily="34" charset="-128"/>
              </a:rPr>
              <a:t>Try “Because of these issues…” or “Because of these objections…” or “ … these limitations …”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100">
                <a:ea typeface="ＭＳ Ｐゴシック" panose="020B0600070205080204" pitchFamily="34" charset="-128"/>
              </a:rPr>
              <a:t>Choosing the right word to capture the things you just talked about is hugely helpful to your reader.</a:t>
            </a:r>
          </a:p>
        </p:txBody>
      </p:sp>
    </p:spTree>
    <p:extLst>
      <p:ext uri="{BB962C8B-B14F-4D97-AF65-F5344CB8AC3E}">
        <p14:creationId xmlns:p14="http://schemas.microsoft.com/office/powerpoint/2010/main" val="3349683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2">
            <a:extLst>
              <a:ext uri="{FF2B5EF4-FFF2-40B4-BE49-F238E27FC236}">
                <a16:creationId xmlns:a16="http://schemas.microsoft.com/office/drawing/2014/main" id="{83A4E9A6-109F-D94F-A566-A8E09FE42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Grammar and Punctuation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1BED7D0D-2330-BD4E-9273-061CF0D744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8675" y="828942"/>
            <a:ext cx="7500938" cy="3647321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1800" dirty="0">
                <a:ea typeface="ＭＳ Ｐゴシック" panose="020B0600070205080204" pitchFamily="34" charset="-128"/>
              </a:rPr>
              <a:t>Some of my pet complaints: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</a:rPr>
              <a:t>Punctuation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350" dirty="0">
                <a:ea typeface="ＭＳ Ｐゴシック" panose="020B0600070205080204" pitchFamily="34" charset="-128"/>
              </a:rPr>
              <a:t>Running sentences into one.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350" dirty="0">
                <a:ea typeface="ＭＳ Ｐゴシック" panose="020B0600070205080204" pitchFamily="34" charset="-128"/>
              </a:rPr>
              <a:t>See </a:t>
            </a:r>
            <a:r>
              <a:rPr lang="en-GB" altLang="en-US" sz="1350" dirty="0">
                <a:ea typeface="ＭＳ Ｐゴシック" panose="020B0600070205080204" pitchFamily="34" charset="-128"/>
                <a:hlinkClick r:id="rId2"/>
              </a:rPr>
              <a:t>http://www.utoronto.ca/writing/commasplice.html</a:t>
            </a:r>
            <a:r>
              <a:rPr lang="en-GB" altLang="en-US" sz="1350" dirty="0">
                <a:ea typeface="ＭＳ Ｐゴシック" panose="020B0600070205080204" pitchFamily="34" charset="-128"/>
              </a:rPr>
              <a:t> for advice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350" dirty="0">
                <a:ea typeface="ＭＳ Ｐゴシック" panose="020B0600070205080204" pitchFamily="34" charset="-128"/>
              </a:rPr>
              <a:t>Overuse of commas.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350" dirty="0">
                <a:ea typeface="ＭＳ Ｐゴシック" panose="020B0600070205080204" pitchFamily="34" charset="-128"/>
                <a:hlinkClick r:id="rId3"/>
              </a:rPr>
              <a:t>www.uefap.com</a:t>
            </a:r>
            <a:r>
              <a:rPr lang="en-GB" altLang="en-US" sz="1350" dirty="0">
                <a:ea typeface="ＭＳ Ｐゴシック" panose="020B0600070205080204" pitchFamily="34" charset="-128"/>
              </a:rPr>
              <a:t> Punctuation section of Writing section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</a:rPr>
              <a:t>Apostrophes for possessives!</a:t>
            </a:r>
          </a:p>
          <a:p>
            <a:pPr lvl="2" eaLnBrk="1" hangingPunct="1">
              <a:lnSpc>
                <a:spcPct val="80000"/>
              </a:lnSpc>
            </a:pPr>
            <a:r>
              <a:rPr lang="ja-JP" altLang="en-GB" sz="1350">
                <a:ea typeface="ＭＳ Ｐゴシック" panose="020B0600070205080204" pitchFamily="34" charset="-128"/>
              </a:rPr>
              <a:t>“</a:t>
            </a:r>
            <a:r>
              <a:rPr lang="en-GB" altLang="ja-JP" sz="1350" dirty="0">
                <a:ea typeface="ＭＳ Ｐゴシック" panose="020B0600070205080204" pitchFamily="34" charset="-128"/>
              </a:rPr>
              <a:t>Users</a:t>
            </a:r>
            <a:r>
              <a:rPr lang="ja-JP" altLang="en-GB" sz="1350">
                <a:ea typeface="ＭＳ Ｐゴシック" panose="020B0600070205080204" pitchFamily="34" charset="-128"/>
              </a:rPr>
              <a:t>’</a:t>
            </a:r>
            <a:r>
              <a:rPr lang="en-GB" altLang="ja-JP" sz="1350" dirty="0">
                <a:ea typeface="ＭＳ Ｐゴシック" panose="020B0600070205080204" pitchFamily="34" charset="-128"/>
              </a:rPr>
              <a:t> cognitive load</a:t>
            </a:r>
            <a:r>
              <a:rPr lang="ja-JP" altLang="en-GB" sz="1350">
                <a:ea typeface="ＭＳ Ｐゴシック" panose="020B0600070205080204" pitchFamily="34" charset="-128"/>
              </a:rPr>
              <a:t>”</a:t>
            </a:r>
            <a:r>
              <a:rPr lang="en-GB" altLang="ja-JP" sz="1350" dirty="0">
                <a:ea typeface="ＭＳ Ｐゴシック" panose="020B0600070205080204" pitchFamily="34" charset="-128"/>
              </a:rPr>
              <a:t> = cognitive load of users</a:t>
            </a:r>
          </a:p>
          <a:p>
            <a:pPr lvl="2" eaLnBrk="1" hangingPunct="1">
              <a:lnSpc>
                <a:spcPct val="80000"/>
              </a:lnSpc>
            </a:pPr>
            <a:r>
              <a:rPr lang="ja-JP" altLang="en-GB" sz="1350">
                <a:ea typeface="ＭＳ Ｐゴシック" panose="020B0600070205080204" pitchFamily="34" charset="-128"/>
              </a:rPr>
              <a:t>“</a:t>
            </a:r>
            <a:r>
              <a:rPr lang="en-GB" altLang="ja-JP" sz="1350" dirty="0">
                <a:ea typeface="ＭＳ Ｐゴシック" panose="020B0600070205080204" pitchFamily="34" charset="-128"/>
              </a:rPr>
              <a:t>The developer</a:t>
            </a:r>
            <a:r>
              <a:rPr lang="ja-JP" altLang="en-GB" sz="1350">
                <a:ea typeface="ＭＳ Ｐゴシック" panose="020B0600070205080204" pitchFamily="34" charset="-128"/>
              </a:rPr>
              <a:t>’</a:t>
            </a:r>
            <a:r>
              <a:rPr lang="en-GB" altLang="ja-JP" sz="1350" dirty="0">
                <a:ea typeface="ＭＳ Ｐゴシック" panose="020B0600070205080204" pitchFamily="34" charset="-128"/>
              </a:rPr>
              <a:t>s objective</a:t>
            </a:r>
            <a:r>
              <a:rPr lang="ja-JP" altLang="en-GB" sz="1350">
                <a:ea typeface="ＭＳ Ｐゴシック" panose="020B0600070205080204" pitchFamily="34" charset="-128"/>
              </a:rPr>
              <a:t>”</a:t>
            </a:r>
            <a:r>
              <a:rPr lang="en-GB" altLang="ja-JP" sz="1350" dirty="0">
                <a:ea typeface="ＭＳ Ｐゴシック" panose="020B0600070205080204" pitchFamily="34" charset="-128"/>
              </a:rPr>
              <a:t> = the objective of the developer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en-US" sz="1350" dirty="0">
                <a:ea typeface="ＭＳ Ｐゴシック" panose="020B0600070205080204" pitchFamily="34" charset="-128"/>
              </a:rPr>
              <a:t>Don</a:t>
            </a:r>
            <a:r>
              <a:rPr lang="ja-JP" altLang="en-GB" sz="1350">
                <a:ea typeface="ＭＳ Ｐゴシック" panose="020B0600070205080204" pitchFamily="34" charset="-128"/>
              </a:rPr>
              <a:t>’</a:t>
            </a:r>
            <a:r>
              <a:rPr lang="en-GB" altLang="ja-JP" sz="1350" dirty="0">
                <a:ea typeface="ＭＳ Ｐゴシック" panose="020B0600070205080204" pitchFamily="34" charset="-128"/>
              </a:rPr>
              <a:t>t put a </a:t>
            </a:r>
            <a:r>
              <a:rPr lang="en-IE" altLang="ja-JP" sz="1350" dirty="0">
                <a:ea typeface="ＭＳ Ｐゴシック" panose="020B0600070205080204" pitchFamily="34" charset="-128"/>
              </a:rPr>
              <a:t>‘</a:t>
            </a:r>
            <a:r>
              <a:rPr lang="en-GB" altLang="ja-JP" sz="1350" dirty="0">
                <a:ea typeface="ＭＳ Ｐゴシック" panose="020B0600070205080204" pitchFamily="34" charset="-128"/>
              </a:rPr>
              <a:t> before an s unless there</a:t>
            </a:r>
            <a:r>
              <a:rPr lang="ja-JP" altLang="en-GB" sz="1350" b="1">
                <a:ea typeface="ＭＳ Ｐゴシック" panose="020B0600070205080204" pitchFamily="34" charset="-128"/>
              </a:rPr>
              <a:t>’</a:t>
            </a:r>
            <a:r>
              <a:rPr lang="en-GB" altLang="ja-JP" sz="1350" b="1" dirty="0">
                <a:ea typeface="ＭＳ Ｐゴシック" panose="020B0600070205080204" pitchFamily="34" charset="-128"/>
              </a:rPr>
              <a:t>s</a:t>
            </a:r>
            <a:r>
              <a:rPr lang="en-GB" altLang="ja-JP" sz="1350" dirty="0">
                <a:ea typeface="ＭＳ Ｐゴシック" panose="020B0600070205080204" pitchFamily="34" charset="-128"/>
              </a:rPr>
              <a:t> some possession going on! (You won</a:t>
            </a:r>
            <a:r>
              <a:rPr lang="ja-JP" altLang="en-GB" sz="1350">
                <a:ea typeface="ＭＳ Ｐゴシック" panose="020B0600070205080204" pitchFamily="34" charset="-128"/>
              </a:rPr>
              <a:t>’</a:t>
            </a:r>
            <a:r>
              <a:rPr lang="en-GB" altLang="ja-JP" sz="1350" dirty="0">
                <a:ea typeface="ＭＳ Ｐゴシック" panose="020B0600070205080204" pitchFamily="34" charset="-128"/>
              </a:rPr>
              <a:t>t be contracting </a:t>
            </a:r>
            <a:r>
              <a:rPr lang="ja-JP" altLang="en-GB" sz="1350">
                <a:ea typeface="ＭＳ Ｐゴシック" panose="020B0600070205080204" pitchFamily="34" charset="-128"/>
              </a:rPr>
              <a:t>“</a:t>
            </a:r>
            <a:r>
              <a:rPr lang="en-GB" altLang="ja-JP" sz="1350" dirty="0">
                <a:ea typeface="ＭＳ Ｐゴシック" panose="020B0600070205080204" pitchFamily="34" charset="-128"/>
              </a:rPr>
              <a:t>is</a:t>
            </a:r>
            <a:r>
              <a:rPr lang="ja-JP" altLang="en-GB" sz="1350">
                <a:ea typeface="ＭＳ Ｐゴシック" panose="020B0600070205080204" pitchFamily="34" charset="-128"/>
              </a:rPr>
              <a:t>”</a:t>
            </a:r>
            <a:r>
              <a:rPr lang="en-GB" altLang="ja-JP" sz="1350" dirty="0">
                <a:ea typeface="ＭＳ Ｐゴシック" panose="020B0600070205080204" pitchFamily="34" charset="-128"/>
              </a:rPr>
              <a:t> in your formal writing!)</a:t>
            </a:r>
          </a:p>
          <a:p>
            <a:pPr lvl="2" eaLnBrk="1" hangingPunct="1">
              <a:lnSpc>
                <a:spcPct val="80000"/>
              </a:lnSpc>
            </a:pPr>
            <a:r>
              <a:rPr lang="ja-JP" altLang="en-GB" sz="1350">
                <a:ea typeface="ＭＳ Ｐゴシック" panose="020B0600070205080204" pitchFamily="34" charset="-128"/>
              </a:rPr>
              <a:t>“</a:t>
            </a:r>
            <a:r>
              <a:rPr lang="en-GB" altLang="ja-JP" sz="1350" dirty="0">
                <a:ea typeface="ＭＳ Ｐゴシック" panose="020B0600070205080204" pitchFamily="34" charset="-128"/>
              </a:rPr>
              <a:t>it</a:t>
            </a:r>
            <a:r>
              <a:rPr lang="ja-JP" altLang="en-GB" sz="1350">
                <a:ea typeface="ＭＳ Ｐゴシック" panose="020B0600070205080204" pitchFamily="34" charset="-128"/>
              </a:rPr>
              <a:t>’</a:t>
            </a:r>
            <a:r>
              <a:rPr lang="en-GB" altLang="ja-JP" sz="1350" dirty="0">
                <a:ea typeface="ＭＳ Ｐゴシック" panose="020B0600070205080204" pitchFamily="34" charset="-128"/>
              </a:rPr>
              <a:t>s</a:t>
            </a:r>
            <a:r>
              <a:rPr lang="ja-JP" altLang="en-GB" sz="1350">
                <a:ea typeface="ＭＳ Ｐゴシック" panose="020B0600070205080204" pitchFamily="34" charset="-128"/>
              </a:rPr>
              <a:t>”</a:t>
            </a:r>
            <a:r>
              <a:rPr lang="en-GB" altLang="ja-JP" sz="1350" dirty="0">
                <a:ea typeface="ＭＳ Ｐゴシック" panose="020B0600070205080204" pitchFamily="34" charset="-128"/>
              </a:rPr>
              <a:t> only means </a:t>
            </a:r>
            <a:r>
              <a:rPr lang="ja-JP" altLang="en-GB" sz="1350">
                <a:ea typeface="ＭＳ Ｐゴシック" panose="020B0600070205080204" pitchFamily="34" charset="-128"/>
              </a:rPr>
              <a:t>“</a:t>
            </a:r>
            <a:r>
              <a:rPr lang="en-GB" altLang="ja-JP" sz="1350" dirty="0">
                <a:ea typeface="ＭＳ Ｐゴシック" panose="020B0600070205080204" pitchFamily="34" charset="-128"/>
              </a:rPr>
              <a:t>it is</a:t>
            </a:r>
            <a:r>
              <a:rPr lang="ja-JP" altLang="en-GB" sz="1350">
                <a:ea typeface="ＭＳ Ｐゴシック" panose="020B0600070205080204" pitchFamily="34" charset="-128"/>
              </a:rPr>
              <a:t>”</a:t>
            </a:r>
            <a:r>
              <a:rPr lang="en-GB" altLang="ja-JP" sz="1350" dirty="0">
                <a:ea typeface="ＭＳ Ｐゴシック" panose="020B0600070205080204" pitchFamily="34" charset="-128"/>
              </a:rPr>
              <a:t>, never the possessive of </a:t>
            </a:r>
            <a:r>
              <a:rPr lang="ja-JP" altLang="en-GB" sz="1350">
                <a:ea typeface="ＭＳ Ｐゴシック" panose="020B0600070205080204" pitchFamily="34" charset="-128"/>
              </a:rPr>
              <a:t>“</a:t>
            </a:r>
            <a:r>
              <a:rPr lang="en-GB" altLang="ja-JP" sz="1350" dirty="0">
                <a:ea typeface="ＭＳ Ｐゴシック" panose="020B0600070205080204" pitchFamily="34" charset="-128"/>
              </a:rPr>
              <a:t>it</a:t>
            </a:r>
            <a:r>
              <a:rPr lang="ja-JP" altLang="en-GB" sz="1350">
                <a:ea typeface="ＭＳ Ｐゴシック" panose="020B0600070205080204" pitchFamily="34" charset="-128"/>
              </a:rPr>
              <a:t>”</a:t>
            </a:r>
            <a:r>
              <a:rPr lang="en-GB" altLang="ja-JP" sz="1350" dirty="0">
                <a:ea typeface="ＭＳ Ｐゴシック" panose="020B0600070205080204" pitchFamily="34" charset="-128"/>
              </a:rPr>
              <a:t>. (Again you won</a:t>
            </a:r>
            <a:r>
              <a:rPr lang="ja-JP" altLang="en-GB" sz="1350">
                <a:ea typeface="ＭＳ Ｐゴシック" panose="020B0600070205080204" pitchFamily="34" charset="-128"/>
              </a:rPr>
              <a:t>’</a:t>
            </a:r>
            <a:r>
              <a:rPr lang="en-GB" altLang="ja-JP" sz="1350" dirty="0">
                <a:ea typeface="ＭＳ Ｐゴシック" panose="020B0600070205080204" pitchFamily="34" charset="-128"/>
              </a:rPr>
              <a:t>t use </a:t>
            </a:r>
            <a:r>
              <a:rPr lang="ja-JP" altLang="en-GB" sz="1350">
                <a:ea typeface="ＭＳ Ｐゴシック" panose="020B0600070205080204" pitchFamily="34" charset="-128"/>
              </a:rPr>
              <a:t>“</a:t>
            </a:r>
            <a:r>
              <a:rPr lang="en-GB" altLang="ja-JP" sz="1350" dirty="0">
                <a:ea typeface="ＭＳ Ｐゴシック" panose="020B0600070205080204" pitchFamily="34" charset="-128"/>
              </a:rPr>
              <a:t>it</a:t>
            </a:r>
            <a:r>
              <a:rPr lang="ja-JP" altLang="en-GB" sz="1350">
                <a:ea typeface="ＭＳ Ｐゴシック" panose="020B0600070205080204" pitchFamily="34" charset="-128"/>
              </a:rPr>
              <a:t>’</a:t>
            </a:r>
            <a:r>
              <a:rPr lang="en-GB" altLang="ja-JP" sz="1350" dirty="0">
                <a:ea typeface="ＭＳ Ｐゴシック" panose="020B0600070205080204" pitchFamily="34" charset="-128"/>
              </a:rPr>
              <a:t>s</a:t>
            </a:r>
            <a:r>
              <a:rPr lang="ja-JP" altLang="en-GB" sz="1350">
                <a:ea typeface="ＭＳ Ｐゴシック" panose="020B0600070205080204" pitchFamily="34" charset="-128"/>
              </a:rPr>
              <a:t>”</a:t>
            </a:r>
            <a:r>
              <a:rPr lang="en-GB" altLang="ja-JP" sz="1350" dirty="0">
                <a:ea typeface="ＭＳ Ｐゴシック" panose="020B0600070205080204" pitchFamily="34" charset="-128"/>
              </a:rPr>
              <a:t> in formal writing!) </a:t>
            </a:r>
          </a:p>
          <a:p>
            <a:pPr lvl="2" eaLnBrk="1" hangingPunct="1">
              <a:lnSpc>
                <a:spcPct val="80000"/>
              </a:lnSpc>
            </a:pPr>
            <a:r>
              <a:rPr lang="ja-JP" altLang="en-GB" sz="1350">
                <a:ea typeface="ＭＳ Ｐゴシック" panose="020B0600070205080204" pitchFamily="34" charset="-128"/>
              </a:rPr>
              <a:t>“</a:t>
            </a:r>
            <a:r>
              <a:rPr lang="en-GB" altLang="ja-JP" sz="1350" dirty="0">
                <a:ea typeface="ＭＳ Ｐゴシック" panose="020B0600070205080204" pitchFamily="34" charset="-128"/>
              </a:rPr>
              <a:t>Its</a:t>
            </a:r>
            <a:r>
              <a:rPr lang="ja-JP" altLang="en-GB" sz="1350">
                <a:ea typeface="ＭＳ Ｐゴシック" panose="020B0600070205080204" pitchFamily="34" charset="-128"/>
              </a:rPr>
              <a:t>”</a:t>
            </a:r>
            <a:r>
              <a:rPr lang="en-GB" altLang="ja-JP" sz="1350" dirty="0">
                <a:ea typeface="ＭＳ Ｐゴシック" panose="020B0600070205080204" pitchFamily="34" charset="-128"/>
              </a:rPr>
              <a:t> is like </a:t>
            </a:r>
            <a:r>
              <a:rPr lang="ja-JP" altLang="en-GB" sz="1350">
                <a:ea typeface="ＭＳ Ｐゴシック" panose="020B0600070205080204" pitchFamily="34" charset="-128"/>
              </a:rPr>
              <a:t>“</a:t>
            </a:r>
            <a:r>
              <a:rPr lang="en-GB" altLang="ja-JP" sz="1350" dirty="0">
                <a:ea typeface="ＭＳ Ｐゴシック" panose="020B0600070205080204" pitchFamily="34" charset="-128"/>
              </a:rPr>
              <a:t>his</a:t>
            </a:r>
            <a:r>
              <a:rPr lang="ja-JP" altLang="en-GB" sz="1350">
                <a:ea typeface="ＭＳ Ｐゴシック" panose="020B0600070205080204" pitchFamily="34" charset="-128"/>
              </a:rPr>
              <a:t>”</a:t>
            </a:r>
            <a:r>
              <a:rPr lang="en-GB" altLang="ja-JP" sz="1350" dirty="0">
                <a:ea typeface="ＭＳ Ｐゴシック" panose="020B0600070205080204" pitchFamily="34" charset="-128"/>
              </a:rPr>
              <a:t> or </a:t>
            </a:r>
            <a:r>
              <a:rPr lang="ja-JP" altLang="en-GB" sz="1350">
                <a:ea typeface="ＭＳ Ｐゴシック" panose="020B0600070205080204" pitchFamily="34" charset="-128"/>
              </a:rPr>
              <a:t>“</a:t>
            </a:r>
            <a:r>
              <a:rPr lang="en-GB" altLang="ja-JP" sz="1350" dirty="0">
                <a:ea typeface="ＭＳ Ｐゴシック" panose="020B0600070205080204" pitchFamily="34" charset="-128"/>
              </a:rPr>
              <a:t>hers</a:t>
            </a:r>
            <a:r>
              <a:rPr lang="ja-JP" altLang="en-GB" sz="1350">
                <a:ea typeface="ＭＳ Ｐゴシック" panose="020B0600070205080204" pitchFamily="34" charset="-128"/>
              </a:rPr>
              <a:t>”</a:t>
            </a:r>
            <a:r>
              <a:rPr lang="en-GB" altLang="ja-JP" sz="1350" dirty="0">
                <a:ea typeface="ＭＳ Ｐゴシック" panose="020B0600070205080204" pitchFamily="34" charset="-128"/>
              </a:rPr>
              <a:t> – </a:t>
            </a:r>
            <a:r>
              <a:rPr lang="ja-JP" altLang="en-GB" sz="1350">
                <a:ea typeface="ＭＳ Ｐゴシック" panose="020B0600070205080204" pitchFamily="34" charset="-128"/>
              </a:rPr>
              <a:t>“</a:t>
            </a:r>
            <a:r>
              <a:rPr lang="en-GB" altLang="ja-JP" sz="1350" dirty="0">
                <a:ea typeface="ＭＳ Ｐゴシック" panose="020B0600070205080204" pitchFamily="34" charset="-128"/>
              </a:rPr>
              <a:t>Its beginning coincided with…</a:t>
            </a:r>
            <a:r>
              <a:rPr lang="ja-JP" altLang="en-GB" sz="1350">
                <a:ea typeface="ＭＳ Ｐゴシック" panose="020B0600070205080204" pitchFamily="34" charset="-128"/>
              </a:rPr>
              <a:t>”</a:t>
            </a:r>
            <a:endParaRPr lang="en-US" altLang="en-US" sz="135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9960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2">
            <a:extLst>
              <a:ext uri="{FF2B5EF4-FFF2-40B4-BE49-F238E27FC236}">
                <a16:creationId xmlns:a16="http://schemas.microsoft.com/office/drawing/2014/main" id="{EB30EC8F-9376-8149-BFA3-CD180246D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Vocabulary and Spelling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AA4D883B-F8D9-C345-AFB1-4B2294547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Really useful site (American)</a:t>
            </a:r>
          </a:p>
          <a:p>
            <a:pPr lvl="1" eaLnBrk="1" hangingPunct="1"/>
            <a:r>
              <a:rPr lang="en-GB" altLang="en-US" sz="2400" dirty="0">
                <a:ea typeface="ＭＳ Ｐゴシック" panose="020B0600070205080204" pitchFamily="34" charset="-128"/>
              </a:rPr>
              <a:t>Common errors in English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  <a:hlinkClick r:id="rId2"/>
              </a:rPr>
              <a:t>http://www.wsu.edu/~brians/errors/errors.html#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Get someone whose English is as good as you can find to proofread your report.</a:t>
            </a:r>
          </a:p>
          <a:p>
            <a:pPr lvl="1" eaLnBrk="1" hangingPunct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83627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2">
            <a:extLst>
              <a:ext uri="{FF2B5EF4-FFF2-40B4-BE49-F238E27FC236}">
                <a16:creationId xmlns:a16="http://schemas.microsoft.com/office/drawing/2014/main" id="{E273E7DB-ACBD-7A4F-B468-4FCE470252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Referring to figures etc.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EA888DB7-B41D-104D-9AD4-0FD315B312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Refer to figures and tables in the text and draw readers attention to key aspects of the figure.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500">
                <a:ea typeface="ＭＳ Ｐゴシック" panose="020B0600070205080204" pitchFamily="34" charset="-128"/>
              </a:rPr>
              <a:t>I won</a:t>
            </a:r>
            <a:r>
              <a:rPr lang="ja-JP" altLang="en-GB" sz="1500">
                <a:ea typeface="ＭＳ Ｐゴシック" panose="020B0600070205080204" pitchFamily="34" charset="-128"/>
              </a:rPr>
              <a:t>’</a:t>
            </a:r>
            <a:r>
              <a:rPr lang="en-GB" altLang="ja-JP" sz="1500">
                <a:ea typeface="ＭＳ Ｐゴシック" panose="020B0600070205080204" pitchFamily="34" charset="-128"/>
              </a:rPr>
              <a:t>t notice a figure unless I</a:t>
            </a:r>
            <a:r>
              <a:rPr lang="ja-JP" altLang="en-GB" sz="1500">
                <a:ea typeface="ＭＳ Ｐゴシック" panose="020B0600070205080204" pitchFamily="34" charset="-128"/>
              </a:rPr>
              <a:t>’</a:t>
            </a:r>
            <a:r>
              <a:rPr lang="en-GB" altLang="ja-JP" sz="1500">
                <a:ea typeface="ＭＳ Ｐゴシック" panose="020B0600070205080204" pitchFamily="34" charset="-128"/>
              </a:rPr>
              <a:t>m directed to it, and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500">
                <a:ea typeface="ＭＳ Ｐゴシック" panose="020B0600070205080204" pitchFamily="34" charset="-128"/>
              </a:rPr>
              <a:t>I don</a:t>
            </a:r>
            <a:r>
              <a:rPr lang="ja-JP" altLang="en-GB" sz="1500">
                <a:ea typeface="ＭＳ Ｐゴシック" panose="020B0600070205080204" pitchFamily="34" charset="-128"/>
              </a:rPr>
              <a:t>’</a:t>
            </a:r>
            <a:r>
              <a:rPr lang="en-GB" altLang="ja-JP" sz="1500">
                <a:ea typeface="ＭＳ Ｐゴシック" panose="020B0600070205080204" pitchFamily="34" charset="-128"/>
              </a:rPr>
              <a:t>t want to have to work out what I</a:t>
            </a:r>
            <a:r>
              <a:rPr lang="ja-JP" altLang="en-GB" sz="1500">
                <a:ea typeface="ＭＳ Ｐゴシック" panose="020B0600070205080204" pitchFamily="34" charset="-128"/>
              </a:rPr>
              <a:t>’</a:t>
            </a:r>
            <a:r>
              <a:rPr lang="en-GB" altLang="ja-JP" sz="1500">
                <a:ea typeface="ＭＳ Ｐゴシック" panose="020B0600070205080204" pitchFamily="34" charset="-128"/>
              </a:rPr>
              <a:t>m supposed to notice about it.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500">
                <a:ea typeface="ＭＳ Ｐゴシック" panose="020B0600070205080204" pitchFamily="34" charset="-128"/>
              </a:rPr>
              <a:t>If you can</a:t>
            </a:r>
            <a:r>
              <a:rPr lang="ja-JP" altLang="en-GB" sz="1500">
                <a:ea typeface="ＭＳ Ｐゴシック" panose="020B0600070205080204" pitchFamily="34" charset="-128"/>
              </a:rPr>
              <a:t>’</a:t>
            </a:r>
            <a:r>
              <a:rPr lang="en-GB" altLang="ja-JP" sz="1500">
                <a:ea typeface="ＭＳ Ｐゴシック" panose="020B0600070205080204" pitchFamily="34" charset="-128"/>
              </a:rPr>
              <a:t>t fit text about your figures/tables in your text, then why is the figure there?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I also find that I don</a:t>
            </a:r>
            <a:r>
              <a:rPr lang="ja-JP" altLang="en-GB" sz="1800">
                <a:ea typeface="ＭＳ Ｐゴシック" panose="020B0600070205080204" pitchFamily="34" charset="-128"/>
              </a:rPr>
              <a:t>’</a:t>
            </a:r>
            <a:r>
              <a:rPr lang="en-GB" altLang="ja-JP" sz="1800">
                <a:ea typeface="ＭＳ Ｐゴシック" panose="020B0600070205080204" pitchFamily="34" charset="-128"/>
              </a:rPr>
              <a:t>t always read section headings. So repeat it:</a:t>
            </a:r>
          </a:p>
          <a:p>
            <a:pPr lvl="1" eaLnBrk="1" hangingPunct="1">
              <a:lnSpc>
                <a:spcPct val="90000"/>
              </a:lnSpc>
            </a:pPr>
            <a:r>
              <a:rPr lang="ja-JP" altLang="en-GB" sz="1500">
                <a:ea typeface="ＭＳ Ｐゴシック" panose="020B0600070205080204" pitchFamily="34" charset="-128"/>
              </a:rPr>
              <a:t>“</a:t>
            </a:r>
            <a:r>
              <a:rPr lang="en-GB" altLang="ja-JP" sz="1500" b="1" i="1">
                <a:ea typeface="ＭＳ Ｐゴシック" panose="020B0600070205080204" pitchFamily="34" charset="-128"/>
              </a:rPr>
              <a:t>1.3 Google</a:t>
            </a:r>
            <a:br>
              <a:rPr lang="en-GB" altLang="ja-JP" sz="1500" i="1">
                <a:ea typeface="ＭＳ Ｐゴシック" panose="020B0600070205080204" pitchFamily="34" charset="-128"/>
              </a:rPr>
            </a:br>
            <a:r>
              <a:rPr lang="en-GB" altLang="ja-JP" sz="1500" i="1">
                <a:ea typeface="ＭＳ Ｐゴシック" panose="020B0600070205080204" pitchFamily="34" charset="-128"/>
              </a:rPr>
              <a:t>	The Google search engine began…</a:t>
            </a:r>
            <a:r>
              <a:rPr lang="ja-JP" altLang="en-GB" sz="1500" i="1">
                <a:ea typeface="ＭＳ Ｐゴシック" panose="020B0600070205080204" pitchFamily="34" charset="-128"/>
              </a:rPr>
              <a:t>”</a:t>
            </a:r>
            <a:endParaRPr lang="en-GB" altLang="ja-JP" sz="1500" i="1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1500" i="1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sz="1500">
              <a:ea typeface="ＭＳ Ｐゴシック" panose="020B0600070205080204" pitchFamily="34" charset="-128"/>
            </a:endParaRPr>
          </a:p>
        </p:txBody>
      </p:sp>
      <p:sp>
        <p:nvSpPr>
          <p:cNvPr id="51206" name="Hexagon 6">
            <a:extLst>
              <a:ext uri="{FF2B5EF4-FFF2-40B4-BE49-F238E27FC236}">
                <a16:creationId xmlns:a16="http://schemas.microsoft.com/office/drawing/2014/main" id="{D11C36F6-D239-1740-BF98-749310EEC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6448" y="3435409"/>
            <a:ext cx="1257300" cy="1200150"/>
          </a:xfrm>
          <a:prstGeom prst="hexagon">
            <a:avLst>
              <a:gd name="adj" fmla="val 25002"/>
              <a:gd name="vf" fmla="val 11547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50"/>
              <a:t>Exercise:</a:t>
            </a:r>
          </a:p>
          <a:p>
            <a:r>
              <a:rPr lang="en-US" altLang="en-US" sz="1050"/>
              <a:t>Note handling of figures in your text.</a:t>
            </a:r>
          </a:p>
        </p:txBody>
      </p:sp>
    </p:spTree>
    <p:extLst>
      <p:ext uri="{BB962C8B-B14F-4D97-AF65-F5344CB8AC3E}">
        <p14:creationId xmlns:p14="http://schemas.microsoft.com/office/powerpoint/2010/main" val="2286213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B771BB22-2419-AF47-80A5-3A1E2DF55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Summary of IIIb</a:t>
            </a:r>
            <a:endParaRPr lang="en-IE" altLang="en-US">
              <a:ea typeface="ＭＳ Ｐゴシック" panose="020B0600070205080204" pitchFamily="34" charset="-128"/>
            </a:endParaRPr>
          </a:p>
        </p:txBody>
      </p:sp>
      <p:sp>
        <p:nvSpPr>
          <p:cNvPr id="52226" name="Content Placeholder 2">
            <a:extLst>
              <a:ext uri="{FF2B5EF4-FFF2-40B4-BE49-F238E27FC236}">
                <a16:creationId xmlns:a16="http://schemas.microsoft.com/office/drawing/2014/main" id="{57D14C6B-AE67-FE41-A487-52B31C248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Attend to </a:t>
            </a:r>
            <a:r>
              <a:rPr lang="en-GB" altLang="en-US" b="1">
                <a:ea typeface="ＭＳ Ｐゴシック" panose="020B0600070205080204" pitchFamily="34" charset="-128"/>
              </a:rPr>
              <a:t>detail </a:t>
            </a:r>
            <a:r>
              <a:rPr lang="en-GB" altLang="en-US">
                <a:ea typeface="ＭＳ Ｐゴシック" panose="020B0600070205080204" pitchFamily="34" charset="-128"/>
              </a:rPr>
              <a:t>of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word choice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spelling</a:t>
            </a:r>
          </a:p>
          <a:p>
            <a:pPr lvl="1" eaLnBrk="1" hangingPunct="1"/>
            <a:r>
              <a:rPr lang="en-GB" altLang="en-US">
                <a:ea typeface="ＭＳ Ｐゴシック" panose="020B0600070205080204" pitchFamily="34" charset="-128"/>
              </a:rPr>
              <a:t>punctuation</a:t>
            </a: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GB" altLang="en-US">
              <a:ea typeface="ＭＳ Ｐゴシック" panose="020B0600070205080204" pitchFamily="34" charset="-128"/>
            </a:endParaRPr>
          </a:p>
          <a:p>
            <a:pPr lvl="1" eaLnBrk="1" hangingPunct="1"/>
            <a:endParaRPr lang="en-IE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40954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2">
            <a:extLst>
              <a:ext uri="{FF2B5EF4-FFF2-40B4-BE49-F238E27FC236}">
                <a16:creationId xmlns:a16="http://schemas.microsoft.com/office/drawing/2014/main" id="{9CF4F48F-7A17-224C-ACD5-F6DC416EE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 err="1">
                <a:ea typeface="ＭＳ Ｐゴシック" panose="020B0600070205080204" pitchFamily="34" charset="-128"/>
              </a:rPr>
              <a:t>III.c</a:t>
            </a:r>
            <a:r>
              <a:rPr lang="en-GB" altLang="en-US" dirty="0">
                <a:ea typeface="ＭＳ Ｐゴシック" panose="020B0600070205080204" pitchFamily="34" charset="-128"/>
              </a:rPr>
              <a:t> The writing process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64517" name="Rectangle 3">
            <a:extLst>
              <a:ext uri="{FF2B5EF4-FFF2-40B4-BE49-F238E27FC236}">
                <a16:creationId xmlns:a16="http://schemas.microsoft.com/office/drawing/2014/main" id="{37723F75-9E7B-0F4B-9C32-1F2AB6B916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100">
                <a:ea typeface="ＭＳ Ｐゴシック" panose="020B0600070205080204" pitchFamily="34" charset="-128"/>
              </a:rPr>
              <a:t>Avoid blank pages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100">
                <a:ea typeface="ＭＳ Ｐゴシック" panose="020B0600070205080204" pitchFamily="34" charset="-128"/>
              </a:rPr>
              <a:t>Write in layers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Develop your outline, then fill in the text in the subsections of your outline as you are ready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100">
                <a:ea typeface="ＭＳ Ｐゴシック" panose="020B0600070205080204" pitchFamily="34" charset="-128"/>
              </a:rPr>
              <a:t>Recognise the advance-revise cycle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When you are advancing don</a:t>
            </a:r>
            <a:r>
              <a:rPr lang="ja-JP" altLang="en-GB" sz="1800">
                <a:ea typeface="ＭＳ Ｐゴシック" panose="020B0600070205080204" pitchFamily="34" charset="-128"/>
              </a:rPr>
              <a:t>’</a:t>
            </a:r>
            <a:r>
              <a:rPr lang="en-GB" altLang="ja-JP" sz="1800">
                <a:ea typeface="ＭＳ Ｐゴシック" panose="020B0600070205080204" pitchFamily="34" charset="-128"/>
              </a:rPr>
              <a:t>t be too critical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Then stop the free flow writing and move explicitly to revision.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100">
                <a:ea typeface="ＭＳ Ｐゴシック" panose="020B0600070205080204" pitchFamily="34" charset="-128"/>
                <a:hlinkClick r:id="rId2"/>
              </a:rPr>
              <a:t>http://www.successfulacademic.com/success_tips/dissertationwriting.htm</a:t>
            </a:r>
            <a:endParaRPr lang="en-GB" altLang="en-US" sz="21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10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57754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Rectangle 2">
            <a:extLst>
              <a:ext uri="{FF2B5EF4-FFF2-40B4-BE49-F238E27FC236}">
                <a16:creationId xmlns:a16="http://schemas.microsoft.com/office/drawing/2014/main" id="{99C81F9F-635A-604E-B756-4A653588A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Does writing come naturally to you?</a:t>
            </a:r>
          </a:p>
        </p:txBody>
      </p:sp>
      <p:sp>
        <p:nvSpPr>
          <p:cNvPr id="65541" name="Rectangle 3">
            <a:extLst>
              <a:ext uri="{FF2B5EF4-FFF2-40B4-BE49-F238E27FC236}">
                <a16:creationId xmlns:a16="http://schemas.microsoft.com/office/drawing/2014/main" id="{9898D01F-E49B-FB42-BB9B-8BD03337DB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100">
                <a:ea typeface="ＭＳ Ｐゴシック" panose="020B0600070205080204" pitchFamily="34" charset="-128"/>
              </a:rPr>
              <a:t>Writing and especially academic writing does not come naturally to many people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>
                <a:ea typeface="ＭＳ Ｐゴシック" panose="020B0600070205080204" pitchFamily="34" charset="-128"/>
              </a:rPr>
              <a:t>If you are not a natural writer you will have to build up a writing habit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>
                <a:ea typeface="ＭＳ Ｐゴシック" panose="020B0600070205080204" pitchFamily="34" charset="-128"/>
              </a:rPr>
              <a:t>This can be painful initially but if you persevere it does work and you will get better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>
                <a:ea typeface="ＭＳ Ｐゴシック" panose="020B0600070205080204" pitchFamily="34" charset="-128"/>
              </a:rPr>
              <a:t>By the way almost every beginner is a little apprehensive about academic writing. It can be daunting. So don</a:t>
            </a:r>
            <a:r>
              <a:rPr lang="ja-JP" altLang="en-GB" sz="2100">
                <a:ea typeface="ＭＳ Ｐゴシック" panose="020B0600070205080204" pitchFamily="34" charset="-128"/>
              </a:rPr>
              <a:t>’</a:t>
            </a:r>
            <a:r>
              <a:rPr lang="en-GB" altLang="ja-JP" sz="2100">
                <a:ea typeface="ＭＳ Ｐゴシック" panose="020B0600070205080204" pitchFamily="34" charset="-128"/>
              </a:rPr>
              <a:t>t panic.</a:t>
            </a:r>
          </a:p>
          <a:p>
            <a:pPr eaLnBrk="1" hangingPunct="1">
              <a:lnSpc>
                <a:spcPct val="90000"/>
              </a:lnSpc>
            </a:pPr>
            <a:endParaRPr lang="en-GB" altLang="en-US" sz="210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9639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2">
            <a:extLst>
              <a:ext uri="{FF2B5EF4-FFF2-40B4-BE49-F238E27FC236}">
                <a16:creationId xmlns:a16="http://schemas.microsoft.com/office/drawing/2014/main" id="{9460DF5F-8F80-E441-A70F-60A1675B87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ea typeface="ＭＳ Ｐゴシック" panose="020B0600070205080204" pitchFamily="34" charset="-128"/>
              </a:rPr>
              <a:t>When to start writing your FYP report?</a:t>
            </a:r>
          </a:p>
        </p:txBody>
      </p:sp>
      <p:sp>
        <p:nvSpPr>
          <p:cNvPr id="67589" name="Rectangle 3">
            <a:extLst>
              <a:ext uri="{FF2B5EF4-FFF2-40B4-BE49-F238E27FC236}">
                <a16:creationId xmlns:a16="http://schemas.microsoft.com/office/drawing/2014/main" id="{5FD061B4-61EA-D64C-BE9E-9F97C72A4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8675" y="1059679"/>
            <a:ext cx="7500938" cy="341658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100" dirty="0">
                <a:ea typeface="ＭＳ Ｐゴシック" panose="020B0600070205080204" pitchFamily="34" charset="-128"/>
              </a:rPr>
              <a:t>Start writing immediately. Don</a:t>
            </a:r>
            <a:r>
              <a:rPr lang="ja-JP" altLang="en-GB" sz="2100">
                <a:ea typeface="ＭＳ Ｐゴシック" panose="020B0600070205080204" pitchFamily="34" charset="-128"/>
              </a:rPr>
              <a:t>’</a:t>
            </a:r>
            <a:r>
              <a:rPr lang="en-GB" altLang="ja-JP" sz="2100" dirty="0">
                <a:ea typeface="ＭＳ Ｐゴシック" panose="020B0600070205080204" pitchFamily="34" charset="-128"/>
              </a:rPr>
              <a:t>t wait until the end of the </a:t>
            </a:r>
            <a:r>
              <a:rPr lang="ja-JP" altLang="en-GB" sz="2100">
                <a:ea typeface="ＭＳ Ｐゴシック" panose="020B0600070205080204" pitchFamily="34" charset="-128"/>
              </a:rPr>
              <a:t>‘</a:t>
            </a:r>
            <a:r>
              <a:rPr lang="en-GB" altLang="ja-JP" sz="2100" dirty="0">
                <a:ea typeface="ＭＳ Ｐゴシック" panose="020B0600070205080204" pitchFamily="34" charset="-128"/>
              </a:rPr>
              <a:t>research</a:t>
            </a:r>
            <a:r>
              <a:rPr lang="ja-JP" altLang="en-GB" sz="2100">
                <a:ea typeface="ＭＳ Ｐゴシック" panose="020B0600070205080204" pitchFamily="34" charset="-128"/>
              </a:rPr>
              <a:t>’</a:t>
            </a:r>
            <a:r>
              <a:rPr lang="en-GB" altLang="ja-JP" sz="2100" dirty="0">
                <a:ea typeface="ＭＳ Ｐゴシック" panose="020B0600070205080204" pitchFamily="34" charset="-128"/>
              </a:rPr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800" dirty="0">
                <a:ea typeface="ＭＳ Ｐゴシック" panose="020B0600070205080204" pitchFamily="34" charset="-128"/>
              </a:rPr>
              <a:t>Writing is part of the research.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1800" dirty="0">
                <a:ea typeface="ＭＳ Ｐゴシック" panose="020B0600070205080204" pitchFamily="34" charset="-128"/>
              </a:rPr>
              <a:t>Writing helps clarify thinking.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1500" dirty="0">
                <a:ea typeface="ＭＳ Ｐゴシック" panose="020B0600070205080204" pitchFamily="34" charset="-128"/>
              </a:rPr>
              <a:t>For example if you can</a:t>
            </a:r>
            <a:r>
              <a:rPr lang="ja-JP" altLang="en-GB" sz="1500">
                <a:ea typeface="ＭＳ Ｐゴシック" panose="020B0600070205080204" pitchFamily="34" charset="-128"/>
              </a:rPr>
              <a:t>’</a:t>
            </a:r>
            <a:r>
              <a:rPr lang="en-GB" altLang="ja-JP" sz="1500" dirty="0">
                <a:ea typeface="ＭＳ Ｐゴシック" panose="020B0600070205080204" pitchFamily="34" charset="-128"/>
              </a:rPr>
              <a:t>t explain why you are doing X you may find that you </a:t>
            </a:r>
            <a:r>
              <a:rPr lang="en-GB" altLang="ja-JP" sz="1500" dirty="0" err="1">
                <a:ea typeface="ＭＳ Ｐゴシック" panose="020B0600070205080204" pitchFamily="34" charset="-128"/>
              </a:rPr>
              <a:t>shouldn</a:t>
            </a:r>
            <a:r>
              <a:rPr lang="ja-JP" altLang="en-GB" sz="1500">
                <a:ea typeface="ＭＳ Ｐゴシック" panose="020B0600070205080204" pitchFamily="34" charset="-128"/>
              </a:rPr>
              <a:t>’</a:t>
            </a:r>
            <a:r>
              <a:rPr lang="en-GB" altLang="ja-JP" sz="1500" dirty="0">
                <a:ea typeface="ＭＳ Ｐゴシック" panose="020B0600070205080204" pitchFamily="34" charset="-128"/>
              </a:rPr>
              <a:t>t be doing X!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 dirty="0">
                <a:ea typeface="ＭＳ Ｐゴシック" panose="020B0600070205080204" pitchFamily="34" charset="-128"/>
              </a:rPr>
              <a:t>Be prepared to have to redraft your work a number of times. Make each draft better.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 dirty="0">
                <a:ea typeface="ＭＳ Ｐゴシック" panose="020B0600070205080204" pitchFamily="34" charset="-128"/>
              </a:rPr>
              <a:t>Make a file for your working thoughts or </a:t>
            </a:r>
            <a:r>
              <a:rPr lang="en-GB" altLang="en-US" sz="2100" i="1" dirty="0">
                <a:ea typeface="ＭＳ Ｐゴシック" panose="020B0600070205080204" pitchFamily="34" charset="-128"/>
              </a:rPr>
              <a:t>keep a journal</a:t>
            </a:r>
            <a:r>
              <a:rPr lang="en-GB" altLang="en-US" sz="2100" dirty="0">
                <a:ea typeface="ＭＳ Ｐゴシック" panose="020B0600070205080204" pitchFamily="34" charset="-128"/>
              </a:rPr>
              <a:t> for this purpose.</a:t>
            </a:r>
          </a:p>
          <a:p>
            <a:pPr eaLnBrk="1" hangingPunct="1">
              <a:lnSpc>
                <a:spcPct val="90000"/>
              </a:lnSpc>
            </a:pPr>
            <a:endParaRPr lang="en-GB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7333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2">
            <a:extLst>
              <a:ext uri="{FF2B5EF4-FFF2-40B4-BE49-F238E27FC236}">
                <a16:creationId xmlns:a16="http://schemas.microsoft.com/office/drawing/2014/main" id="{5F508F8F-B780-F643-A4F5-81F7D85C9C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IV Finally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9637" name="Rectangle 3">
            <a:extLst>
              <a:ext uri="{FF2B5EF4-FFF2-40B4-BE49-F238E27FC236}">
                <a16:creationId xmlns:a16="http://schemas.microsoft.com/office/drawing/2014/main" id="{334B0236-FBB8-DF47-AD31-86A1CA71C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Write lots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Study other writing</a:t>
            </a:r>
          </a:p>
          <a:p>
            <a:pPr eaLnBrk="1" hangingPunct="1"/>
            <a:r>
              <a:rPr lang="en-GB" altLang="en-US">
                <a:ea typeface="ＭＳ Ｐゴシック" panose="020B0600070205080204" pitchFamily="34" charset="-128"/>
              </a:rPr>
              <a:t>Write to be understood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7106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2">
            <a:extLst>
              <a:ext uri="{FF2B5EF4-FFF2-40B4-BE49-F238E27FC236}">
                <a16:creationId xmlns:a16="http://schemas.microsoft.com/office/drawing/2014/main" id="{6DD29151-D5AA-7249-A825-F23DBD834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Additional Resources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59C80F41-7735-1844-B4E7-B912D2DC2E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1500">
                <a:ea typeface="ＭＳ Ｐゴシック" panose="020B0600070205080204" pitchFamily="34" charset="-128"/>
              </a:rPr>
              <a:t>Bell, J.  (1999).  </a:t>
            </a:r>
            <a:r>
              <a:rPr lang="en-GB" altLang="en-US" sz="1500" i="1">
                <a:ea typeface="ＭＳ Ｐゴシック" panose="020B0600070205080204" pitchFamily="34" charset="-128"/>
              </a:rPr>
              <a:t>Doing your research project: a guide for first-time researchers in education and social science (3rd ed.)</a:t>
            </a:r>
            <a:r>
              <a:rPr lang="en-GB" altLang="en-US" sz="1500">
                <a:ea typeface="ＭＳ Ｐゴシック" panose="020B0600070205080204" pitchFamily="34" charset="-128"/>
              </a:rPr>
              <a:t>.  Buckingham: Open University Press.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1500">
                <a:ea typeface="ＭＳ Ｐゴシック" panose="020B0600070205080204" pitchFamily="34" charset="-128"/>
              </a:rPr>
              <a:t>Cryer, P.  (1997). </a:t>
            </a:r>
            <a:r>
              <a:rPr lang="en-GB" altLang="en-US" sz="1500" i="1">
                <a:ea typeface="ＭＳ Ｐゴシック" panose="020B0600070205080204" pitchFamily="34" charset="-128"/>
              </a:rPr>
              <a:t>The research student</a:t>
            </a:r>
            <a:r>
              <a:rPr lang="ja-JP" altLang="en-GB" sz="1500" i="1">
                <a:ea typeface="ＭＳ Ｐゴシック" panose="020B0600070205080204" pitchFamily="34" charset="-128"/>
              </a:rPr>
              <a:t>’</a:t>
            </a:r>
            <a:r>
              <a:rPr lang="en-GB" altLang="ja-JP" sz="1500" i="1">
                <a:ea typeface="ＭＳ Ｐゴシック" panose="020B0600070205080204" pitchFamily="34" charset="-128"/>
              </a:rPr>
              <a:t>s guide to success</a:t>
            </a:r>
            <a:r>
              <a:rPr lang="en-GB" altLang="ja-JP" sz="1500">
                <a:ea typeface="ＭＳ Ｐゴシック" panose="020B0600070205080204" pitchFamily="34" charset="-128"/>
              </a:rPr>
              <a:t>.  Philadelphia: Open University Press.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1500">
                <a:ea typeface="ＭＳ Ｐゴシック" panose="020B0600070205080204" pitchFamily="34" charset="-128"/>
              </a:rPr>
              <a:t>Fink, A.  (2005).  </a:t>
            </a:r>
            <a:r>
              <a:rPr lang="en-GB" altLang="en-US" sz="1500" i="1">
                <a:ea typeface="ＭＳ Ｐゴシック" panose="020B0600070205080204" pitchFamily="34" charset="-128"/>
              </a:rPr>
              <a:t>Conducting research literature reviews: From internet to paper, 2nd ed</a:t>
            </a:r>
            <a:r>
              <a:rPr lang="en-GB" altLang="en-US" sz="1500">
                <a:ea typeface="ＭＳ Ｐゴシック" panose="020B0600070205080204" pitchFamily="34" charset="-128"/>
              </a:rPr>
              <a:t>.  London: Sage.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1500">
                <a:ea typeface="ＭＳ Ｐゴシック" panose="020B0600070205080204" pitchFamily="34" charset="-128"/>
              </a:rPr>
              <a:t>Hart, C.  (1998) </a:t>
            </a:r>
            <a:r>
              <a:rPr lang="en-GB" altLang="en-US" sz="1500" i="1">
                <a:ea typeface="ＭＳ Ｐゴシック" panose="020B0600070205080204" pitchFamily="34" charset="-128"/>
              </a:rPr>
              <a:t>Doing a literature review: Releasing the social science imagination</a:t>
            </a:r>
            <a:r>
              <a:rPr lang="en-GB" altLang="en-US" sz="1500">
                <a:ea typeface="ＭＳ Ｐゴシック" panose="020B0600070205080204" pitchFamily="34" charset="-128"/>
              </a:rPr>
              <a:t>.  London: Sage.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1500">
                <a:ea typeface="ＭＳ Ｐゴシック" panose="020B0600070205080204" pitchFamily="34" charset="-128"/>
              </a:rPr>
              <a:t>Hart, C.  (2001). </a:t>
            </a:r>
            <a:r>
              <a:rPr lang="en-GB" altLang="en-US" sz="1500" i="1">
                <a:ea typeface="ＭＳ Ｐゴシック" panose="020B0600070205080204" pitchFamily="34" charset="-128"/>
              </a:rPr>
              <a:t>Doing a literature search: A comprehensive guide for the social sciences</a:t>
            </a:r>
            <a:r>
              <a:rPr lang="en-GB" altLang="en-US" sz="1500">
                <a:ea typeface="ＭＳ Ｐゴシック" panose="020B0600070205080204" pitchFamily="34" charset="-128"/>
              </a:rPr>
              <a:t>.  London: Sage.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1500">
                <a:ea typeface="ＭＳ Ｐゴシック" panose="020B0600070205080204" pitchFamily="34" charset="-128"/>
              </a:rPr>
              <a:t>Phillips, E.M. &amp; Pugh, D.S.  (1994).  </a:t>
            </a:r>
            <a:r>
              <a:rPr lang="en-GB" altLang="en-US" sz="1500" i="1">
                <a:ea typeface="ＭＳ Ｐゴシック" panose="020B0600070205080204" pitchFamily="34" charset="-128"/>
              </a:rPr>
              <a:t>How to get a PhD</a:t>
            </a:r>
            <a:r>
              <a:rPr lang="en-GB" altLang="en-US" sz="1500">
                <a:ea typeface="ＭＳ Ｐゴシック" panose="020B0600070205080204" pitchFamily="34" charset="-128"/>
              </a:rPr>
              <a:t>.  London: Open University Press.</a:t>
            </a:r>
            <a:endParaRPr lang="en-US" altLang="en-US" sz="150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77161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2">
            <a:extLst>
              <a:ext uri="{FF2B5EF4-FFF2-40B4-BE49-F238E27FC236}">
                <a16:creationId xmlns:a16="http://schemas.microsoft.com/office/drawing/2014/main" id="{56CD53D5-07B9-4444-A672-3BD6A2279E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Style and writing guides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2709" name="Rectangle 3">
            <a:extLst>
              <a:ext uri="{FF2B5EF4-FFF2-40B4-BE49-F238E27FC236}">
                <a16:creationId xmlns:a16="http://schemas.microsoft.com/office/drawing/2014/main" id="{A2AC2289-BAAC-0342-A8EC-831559B4A9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Strunk, W. &amp; White, E.B.  (2000).  </a:t>
            </a:r>
            <a:r>
              <a:rPr lang="en-GB" altLang="en-US" sz="1800" i="1">
                <a:ea typeface="ＭＳ Ｐゴシック" panose="020B0600070205080204" pitchFamily="34" charset="-128"/>
              </a:rPr>
              <a:t>The elements of style, 4th ed</a:t>
            </a:r>
            <a:r>
              <a:rPr lang="en-GB" altLang="en-US" sz="1800">
                <a:ea typeface="ＭＳ Ｐゴシック" panose="020B0600070205080204" pitchFamily="34" charset="-128"/>
              </a:rPr>
              <a:t>.  Boston: Allyn &amp; Bacon.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Murray, R.  (2002).  </a:t>
            </a:r>
            <a:r>
              <a:rPr lang="en-GB" altLang="en-US" sz="1800" i="1">
                <a:ea typeface="ＭＳ Ｐゴシック" panose="020B0600070205080204" pitchFamily="34" charset="-128"/>
              </a:rPr>
              <a:t>How to write a thesis</a:t>
            </a:r>
            <a:r>
              <a:rPr lang="en-GB" altLang="en-US" sz="1800">
                <a:ea typeface="ＭＳ Ｐゴシック" panose="020B0600070205080204" pitchFamily="34" charset="-128"/>
              </a:rPr>
              <a:t>.  Philadelphia: Open University Press.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Swetnam, D.  (2000).  </a:t>
            </a:r>
            <a:r>
              <a:rPr lang="en-GB" altLang="en-US" sz="1800" i="1">
                <a:ea typeface="ＭＳ Ｐゴシック" panose="020B0600070205080204" pitchFamily="34" charset="-128"/>
              </a:rPr>
              <a:t>Writing your dissertation, 3rd ed</a:t>
            </a:r>
            <a:r>
              <a:rPr lang="en-GB" altLang="en-US" sz="1800">
                <a:ea typeface="ＭＳ Ｐゴシック" panose="020B0600070205080204" pitchFamily="34" charset="-128"/>
              </a:rPr>
              <a:t>.  Oxford: How to Books.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Swales, J.M. &amp; Feak, C.B.  (2004).  </a:t>
            </a:r>
            <a:r>
              <a:rPr lang="en-GB" altLang="en-US" sz="1800" i="1">
                <a:ea typeface="ＭＳ Ｐゴシック" panose="020B0600070205080204" pitchFamily="34" charset="-128"/>
              </a:rPr>
              <a:t>Academic writing for graduate students: essential tasks and skills for non-native speakers of English</a:t>
            </a:r>
            <a:r>
              <a:rPr lang="en-GB" altLang="en-US" sz="1800">
                <a:ea typeface="ＭＳ Ｐゴシック" panose="020B0600070205080204" pitchFamily="34" charset="-128"/>
              </a:rPr>
              <a:t>.  Michigan: University of Michigan Press.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1800">
                <a:ea typeface="ＭＳ Ｐゴシック" panose="020B0600070205080204" pitchFamily="34" charset="-128"/>
              </a:rPr>
              <a:t>Wisker, G.  (2001). </a:t>
            </a:r>
            <a:r>
              <a:rPr lang="en-GB" altLang="en-US" sz="1800" i="1">
                <a:ea typeface="ＭＳ Ｐゴシック" panose="020B0600070205080204" pitchFamily="34" charset="-128"/>
              </a:rPr>
              <a:t>The postgraduate research handbook</a:t>
            </a:r>
            <a:r>
              <a:rPr lang="en-GB" altLang="en-US" sz="1800">
                <a:ea typeface="ＭＳ Ｐゴシック" panose="020B0600070205080204" pitchFamily="34" charset="-128"/>
              </a:rPr>
              <a:t>.  Basingstoke: Palagrave.</a:t>
            </a:r>
            <a:endParaRPr lang="en-US" altLang="en-US" sz="180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001727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2">
            <a:extLst>
              <a:ext uri="{FF2B5EF4-FFF2-40B4-BE49-F238E27FC236}">
                <a16:creationId xmlns:a16="http://schemas.microsoft.com/office/drawing/2014/main" id="{12ACF3C0-190D-0C42-A42C-4DB8CE8117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>
                <a:ea typeface="ＭＳ Ｐゴシック" panose="020B0600070205080204" pitchFamily="34" charset="-128"/>
              </a:rPr>
              <a:t>Useful websites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3733" name="Rectangle 3">
            <a:extLst>
              <a:ext uri="{FF2B5EF4-FFF2-40B4-BE49-F238E27FC236}">
                <a16:creationId xmlns:a16="http://schemas.microsoft.com/office/drawing/2014/main" id="{C488431A-A2E9-494E-B102-EF1C7937E6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8675" y="948583"/>
            <a:ext cx="7500938" cy="352768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500" dirty="0">
                <a:ea typeface="ＭＳ Ｐゴシック" panose="020B0600070205080204" pitchFamily="34" charset="-128"/>
                <a:hlinkClick r:id="rId2"/>
              </a:rPr>
              <a:t>http://isservices.tcd.ie/training/wordld.php</a:t>
            </a:r>
            <a:endParaRPr lang="en-US" altLang="en-US" sz="1500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1200" dirty="0">
                <a:ea typeface="ＭＳ Ｐゴシック" panose="020B0600070205080204" pitchFamily="34" charset="-128"/>
              </a:rPr>
              <a:t>For IS services Word for Long Docs course</a:t>
            </a:r>
            <a:endParaRPr lang="en-US" altLang="en-US" sz="1200" dirty="0">
              <a:ea typeface="ＭＳ Ｐゴシック" panose="020B0600070205080204" pitchFamily="34" charset="-128"/>
              <a:hlinkClick r:id="rId3"/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  <a:hlinkClick r:id="rId3"/>
              </a:rPr>
              <a:t>www.strath.ac.uk/Departments/CAP/dissertation</a:t>
            </a:r>
            <a:endParaRPr lang="en-GB" altLang="en-US" sz="1500" dirty="0">
              <a:ea typeface="ＭＳ Ｐゴシック" panose="020B0600070205080204" pitchFamily="34" charset="-128"/>
              <a:hlinkClick r:id="" action="ppaction://noaction"/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  <a:hlinkClick r:id="" action="ppaction://noaction"/>
              </a:rPr>
              <a:t>www.services.unimelb.edu.au/llsu/resources/pg_materials.html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  <a:hlinkClick r:id="" action="ppaction://noaction"/>
              </a:rPr>
              <a:t>www.unisanet.unisa.edu.au/ResearchEducation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  <a:hlinkClick r:id="" action="ppaction://noaction"/>
              </a:rPr>
              <a:t>www.LearnerAssociates.net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  <a:hlinkClick r:id="" action="ppaction://noaction"/>
              </a:rPr>
              <a:t>http://lorien.ncl.ac.uk/ming/Dept/Tips/writing/writeindex.htm</a:t>
            </a:r>
            <a:r>
              <a:rPr lang="en-GB" altLang="en-US" sz="1500" dirty="0">
                <a:ea typeface="ＭＳ Ｐゴシック" panose="020B0600070205080204" pitchFamily="34" charset="-128"/>
              </a:rPr>
              <a:t>  (good for sciences)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500" dirty="0">
                <a:ea typeface="ＭＳ Ｐゴシック" panose="020B0600070205080204" pitchFamily="34" charset="-128"/>
                <a:hlinkClick r:id="rId4"/>
              </a:rPr>
              <a:t>http://www.wsu.edu/~brians/errors/errors.html#</a:t>
            </a:r>
            <a:endParaRPr lang="en-GB" altLang="en-US" sz="15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en-US" sz="1500" dirty="0">
                <a:ea typeface="ＭＳ Ｐゴシック" panose="020B0600070205080204" pitchFamily="34" charset="-128"/>
                <a:hlinkClick r:id="rId5"/>
              </a:rPr>
              <a:t>http://www.utoronto.ca/writing/commasplice.html</a:t>
            </a:r>
            <a:endParaRPr lang="en-GB" altLang="en-US" sz="15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100" dirty="0">
                <a:ea typeface="ＭＳ Ｐゴシック" panose="020B0600070205080204" pitchFamily="34" charset="-128"/>
                <a:hlinkClick r:id="rId6"/>
              </a:rPr>
              <a:t>www.uefap.com</a:t>
            </a:r>
            <a:r>
              <a:rPr lang="en-US" altLang="en-US" sz="2100" dirty="0">
                <a:ea typeface="ＭＳ Ｐゴシック" panose="020B0600070205080204" pitchFamily="34" charset="-128"/>
              </a:rPr>
              <a:t> on academic writing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97934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3462149"/>
      </p:ext>
    </p:extLst>
  </p:cSld>
  <p:clrMapOvr>
    <a:masterClrMapping/>
  </p:clrMapOvr>
</p:sld>
</file>

<file path=ppt/theme/theme1.xml><?xml version="1.0" encoding="utf-8"?>
<a:theme xmlns:a="http://schemas.openxmlformats.org/drawingml/2006/main" name="TCD_PPT_Calibri_Option2a">
  <a:themeElements>
    <a:clrScheme name="Custom 5 1">
      <a:dk1>
        <a:srgbClr val="000000"/>
      </a:dk1>
      <a:lt1>
        <a:srgbClr val="FFFFFF"/>
      </a:lt1>
      <a:dk2>
        <a:srgbClr val="0070BB"/>
      </a:dk2>
      <a:lt2>
        <a:srgbClr val="FFFFFF"/>
      </a:lt2>
      <a:accent1>
        <a:srgbClr val="0070BB"/>
      </a:accent1>
      <a:accent2>
        <a:srgbClr val="0070BB"/>
      </a:accent2>
      <a:accent3>
        <a:srgbClr val="7C7C7C"/>
      </a:accent3>
      <a:accent4>
        <a:srgbClr val="A6A6A6"/>
      </a:accent4>
      <a:accent5>
        <a:srgbClr val="0070BB"/>
      </a:accent5>
      <a:accent6>
        <a:srgbClr val="0070BB"/>
      </a:accent6>
      <a:hlink>
        <a:srgbClr val="000000"/>
      </a:hlink>
      <a:folHlink>
        <a:srgbClr val="000000"/>
      </a:folHlink>
    </a:clrScheme>
    <a:fontScheme name="Trinity Colleg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TCD_PPT_Calibri_Option2a.potx</Template>
  <TotalTime>3454</TotalTime>
  <Words>2235</Words>
  <Application>Microsoft Macintosh PowerPoint</Application>
  <PresentationFormat>On-screen Show (16:9)</PresentationFormat>
  <Paragraphs>258</Paragraphs>
  <Slides>37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Minion Pro</vt:lpstr>
      <vt:lpstr>Tahoma</vt:lpstr>
      <vt:lpstr>Wingdings</vt:lpstr>
      <vt:lpstr>TCD_PPT_Calibri_Option2a</vt:lpstr>
      <vt:lpstr>FYP - The Writing</vt:lpstr>
      <vt:lpstr>Outline</vt:lpstr>
      <vt:lpstr>Sources</vt:lpstr>
      <vt:lpstr>Some online tools</vt:lpstr>
      <vt:lpstr>I. Preparing the ground</vt:lpstr>
      <vt:lpstr>II. Planning</vt:lpstr>
      <vt:lpstr>III. Writing</vt:lpstr>
      <vt:lpstr>Before proceeding</vt:lpstr>
      <vt:lpstr>III.a Academic Writing</vt:lpstr>
      <vt:lpstr>Academic Writing - Complex</vt:lpstr>
      <vt:lpstr>Voice</vt:lpstr>
      <vt:lpstr>Academic Writing - Formal</vt:lpstr>
      <vt:lpstr>Academic Writing - Objective</vt:lpstr>
      <vt:lpstr>Academic Writing - Explicit</vt:lpstr>
      <vt:lpstr>Academic Writing – Careful and responsible</vt:lpstr>
      <vt:lpstr>Conclusion of IIIa</vt:lpstr>
      <vt:lpstr>III.b Good academic writing</vt:lpstr>
      <vt:lpstr>Good writing is difficult to define but it is very easy to recognise</vt:lpstr>
      <vt:lpstr>Poor writing </vt:lpstr>
      <vt:lpstr>Subtly muddling sentence …</vt:lpstr>
      <vt:lpstr>Communicate</vt:lpstr>
      <vt:lpstr>Style – choosing words</vt:lpstr>
      <vt:lpstr>Paragraphs</vt:lpstr>
      <vt:lpstr>Sections</vt:lpstr>
      <vt:lpstr>Linking &amp; pronouns</vt:lpstr>
      <vt:lpstr>Grammar and Punctuation</vt:lpstr>
      <vt:lpstr>Vocabulary and Spelling</vt:lpstr>
      <vt:lpstr>Referring to figures etc.</vt:lpstr>
      <vt:lpstr>Summary of IIIb</vt:lpstr>
      <vt:lpstr>III.c The writing process</vt:lpstr>
      <vt:lpstr>Does writing come naturally to you?</vt:lpstr>
      <vt:lpstr>When to start writing your FYP report?</vt:lpstr>
      <vt:lpstr>IV Finally</vt:lpstr>
      <vt:lpstr>Additional Resources</vt:lpstr>
      <vt:lpstr>Style and writing guides</vt:lpstr>
      <vt:lpstr>Useful websites</vt:lpstr>
      <vt:lpstr>Thank You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dtpgraphics</dc:creator>
  <cp:lastModifiedBy>Lucy Hederman</cp:lastModifiedBy>
  <cp:revision>50</cp:revision>
  <cp:lastPrinted>2014-12-16T10:33:11Z</cp:lastPrinted>
  <dcterms:created xsi:type="dcterms:W3CDTF">2013-07-29T09:34:50Z</dcterms:created>
  <dcterms:modified xsi:type="dcterms:W3CDTF">2020-10-22T11:05:38Z</dcterms:modified>
</cp:coreProperties>
</file>